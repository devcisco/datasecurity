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29"/>
  </p:notesMasterIdLst>
  <p:sldIdLst>
    <p:sldId id="256" r:id="rId2"/>
    <p:sldId id="257" r:id="rId3"/>
    <p:sldId id="264" r:id="rId4"/>
    <p:sldId id="276" r:id="rId5"/>
    <p:sldId id="258" r:id="rId6"/>
    <p:sldId id="261" r:id="rId7"/>
    <p:sldId id="277" r:id="rId8"/>
    <p:sldId id="259" r:id="rId9"/>
    <p:sldId id="266" r:id="rId10"/>
    <p:sldId id="260" r:id="rId11"/>
    <p:sldId id="271" r:id="rId12"/>
    <p:sldId id="267" r:id="rId13"/>
    <p:sldId id="262" r:id="rId14"/>
    <p:sldId id="274" r:id="rId15"/>
    <p:sldId id="275" r:id="rId16"/>
    <p:sldId id="269" r:id="rId17"/>
    <p:sldId id="270" r:id="rId18"/>
    <p:sldId id="268" r:id="rId19"/>
    <p:sldId id="280" r:id="rId20"/>
    <p:sldId id="272" r:id="rId21"/>
    <p:sldId id="278" r:id="rId22"/>
    <p:sldId id="279" r:id="rId23"/>
    <p:sldId id="281" r:id="rId24"/>
    <p:sldId id="282" r:id="rId25"/>
    <p:sldId id="283" r:id="rId26"/>
    <p:sldId id="284" r:id="rId27"/>
    <p:sldId id="263" r:id="rId2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87" d="100"/>
          <a:sy n="87" d="100"/>
        </p:scale>
        <p:origin x="48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rancesco Pisaturo" userId="2afd5d91a406af1a" providerId="LiveId" clId="{B677D90C-D281-4539-BE98-889FC3DCCB02}"/>
    <pc:docChg chg="undo custSel addSld delSld modSld sldOrd">
      <pc:chgData name="Francesco Pisaturo" userId="2afd5d91a406af1a" providerId="LiveId" clId="{B677D90C-D281-4539-BE98-889FC3DCCB02}" dt="2026-02-04T10:07:26.375" v="3084" actId="113"/>
      <pc:docMkLst>
        <pc:docMk/>
      </pc:docMkLst>
      <pc:sldChg chg="addSp delSp modSp mod">
        <pc:chgData name="Francesco Pisaturo" userId="2afd5d91a406af1a" providerId="LiveId" clId="{B677D90C-D281-4539-BE98-889FC3DCCB02}" dt="2026-01-20T14:22:52.888" v="1935" actId="478"/>
        <pc:sldMkLst>
          <pc:docMk/>
          <pc:sldMk cId="1681355203" sldId="257"/>
        </pc:sldMkLst>
      </pc:sldChg>
      <pc:sldChg chg="addSp modSp new mod">
        <pc:chgData name="Francesco Pisaturo" userId="2afd5d91a406af1a" providerId="LiveId" clId="{B677D90C-D281-4539-BE98-889FC3DCCB02}" dt="2026-02-04T09:45:30.411" v="3056" actId="20577"/>
        <pc:sldMkLst>
          <pc:docMk/>
          <pc:sldMk cId="2594902265" sldId="258"/>
        </pc:sldMkLst>
        <pc:spChg chg="add mod">
          <ac:chgData name="Francesco Pisaturo" userId="2afd5d91a406af1a" providerId="LiveId" clId="{B677D90C-D281-4539-BE98-889FC3DCCB02}" dt="2026-02-04T09:45:30.411" v="3056" actId="20577"/>
          <ac:spMkLst>
            <pc:docMk/>
            <pc:sldMk cId="2594902265" sldId="258"/>
            <ac:spMk id="3" creationId="{C89F0209-5245-914C-C915-23EFA13F2FAC}"/>
          </ac:spMkLst>
        </pc:spChg>
      </pc:sldChg>
      <pc:sldChg chg="addSp delSp modSp new mod">
        <pc:chgData name="Francesco Pisaturo" userId="2afd5d91a406af1a" providerId="LiveId" clId="{B677D90C-D281-4539-BE98-889FC3DCCB02}" dt="2026-01-22T16:37:03.031" v="2907" actId="113"/>
        <pc:sldMkLst>
          <pc:docMk/>
          <pc:sldMk cId="4108414884" sldId="259"/>
        </pc:sldMkLst>
        <pc:spChg chg="add mod">
          <ac:chgData name="Francesco Pisaturo" userId="2afd5d91a406af1a" providerId="LiveId" clId="{B677D90C-D281-4539-BE98-889FC3DCCB02}" dt="2026-01-22T16:37:03.031" v="2907" actId="113"/>
          <ac:spMkLst>
            <pc:docMk/>
            <pc:sldMk cId="4108414884" sldId="259"/>
            <ac:spMk id="3" creationId="{9B96943F-B7F9-9A04-9246-658E8E3177AB}"/>
          </ac:spMkLst>
        </pc:spChg>
      </pc:sldChg>
      <pc:sldChg chg="addSp modSp new mod ord">
        <pc:chgData name="Francesco Pisaturo" userId="2afd5d91a406af1a" providerId="LiveId" clId="{B677D90C-D281-4539-BE98-889FC3DCCB02}" dt="2026-02-04T10:03:48.282" v="3081" actId="20577"/>
        <pc:sldMkLst>
          <pc:docMk/>
          <pc:sldMk cId="1066103589" sldId="260"/>
        </pc:sldMkLst>
        <pc:spChg chg="add mod">
          <ac:chgData name="Francesco Pisaturo" userId="2afd5d91a406af1a" providerId="LiveId" clId="{B677D90C-D281-4539-BE98-889FC3DCCB02}" dt="2026-02-04T10:03:48.282" v="3081" actId="20577"/>
          <ac:spMkLst>
            <pc:docMk/>
            <pc:sldMk cId="1066103589" sldId="260"/>
            <ac:spMk id="3" creationId="{B74BF7EF-3435-419C-941E-436284EF34B0}"/>
          </ac:spMkLst>
        </pc:spChg>
      </pc:sldChg>
      <pc:sldChg chg="addSp delSp modSp new mod ord">
        <pc:chgData name="Francesco Pisaturo" userId="2afd5d91a406af1a" providerId="LiveId" clId="{B677D90C-D281-4539-BE98-889FC3DCCB02}" dt="2026-01-23T17:24:24.408" v="2978" actId="1076"/>
        <pc:sldMkLst>
          <pc:docMk/>
          <pc:sldMk cId="2187034367" sldId="261"/>
        </pc:sldMkLst>
        <pc:spChg chg="mod">
          <ac:chgData name="Francesco Pisaturo" userId="2afd5d91a406af1a" providerId="LiveId" clId="{B677D90C-D281-4539-BE98-889FC3DCCB02}" dt="2026-01-23T17:14:07.547" v="2946" actId="1076"/>
          <ac:spMkLst>
            <pc:docMk/>
            <pc:sldMk cId="2187034367" sldId="261"/>
            <ac:spMk id="2" creationId="{FBB4E213-A579-CA41-3D6C-42ECFE1D2414}"/>
          </ac:spMkLst>
        </pc:spChg>
        <pc:spChg chg="add mod">
          <ac:chgData name="Francesco Pisaturo" userId="2afd5d91a406af1a" providerId="LiveId" clId="{B677D90C-D281-4539-BE98-889FC3DCCB02}" dt="2026-01-23T17:24:24.408" v="2978" actId="1076"/>
          <ac:spMkLst>
            <pc:docMk/>
            <pc:sldMk cId="2187034367" sldId="261"/>
            <ac:spMk id="4" creationId="{08B59705-406F-E159-45CC-593B18DC923D}"/>
          </ac:spMkLst>
        </pc:spChg>
      </pc:sldChg>
      <pc:sldChg chg="addSp delSp modSp new mod ord">
        <pc:chgData name="Francesco Pisaturo" userId="2afd5d91a406af1a" providerId="LiveId" clId="{B677D90C-D281-4539-BE98-889FC3DCCB02}" dt="2026-01-22T16:45:32.172" v="2909" actId="478"/>
        <pc:sldMkLst>
          <pc:docMk/>
          <pc:sldMk cId="2516710720" sldId="262"/>
        </pc:sldMkLst>
        <pc:spChg chg="add mod">
          <ac:chgData name="Francesco Pisaturo" userId="2afd5d91a406af1a" providerId="LiveId" clId="{B677D90C-D281-4539-BE98-889FC3DCCB02}" dt="2026-01-20T16:09:38.469" v="1975" actId="20577"/>
          <ac:spMkLst>
            <pc:docMk/>
            <pc:sldMk cId="2516710720" sldId="262"/>
            <ac:spMk id="3" creationId="{7284B38C-56F1-2D57-3A5A-B1D9126D5506}"/>
          </ac:spMkLst>
        </pc:spChg>
      </pc:sldChg>
      <pc:sldChg chg="addSp delSp modSp new mod">
        <pc:chgData name="Francesco Pisaturo" userId="2afd5d91a406af1a" providerId="LiveId" clId="{B677D90C-D281-4539-BE98-889FC3DCCB02}" dt="2026-02-04T09:44:55.746" v="3036" actId="20577"/>
        <pc:sldMkLst>
          <pc:docMk/>
          <pc:sldMk cId="1013870050" sldId="264"/>
        </pc:sldMkLst>
        <pc:spChg chg="add mod">
          <ac:chgData name="Francesco Pisaturo" userId="2afd5d91a406af1a" providerId="LiveId" clId="{B677D90C-D281-4539-BE98-889FC3DCCB02}" dt="2026-02-04T09:44:55.746" v="3036" actId="20577"/>
          <ac:spMkLst>
            <pc:docMk/>
            <pc:sldMk cId="1013870050" sldId="264"/>
            <ac:spMk id="3" creationId="{F3F9E540-9593-F33B-DC6C-5A942F07CBED}"/>
          </ac:spMkLst>
        </pc:spChg>
      </pc:sldChg>
      <pc:sldChg chg="addSp modSp new mod ord">
        <pc:chgData name="Francesco Pisaturo" userId="2afd5d91a406af1a" providerId="LiveId" clId="{B677D90C-D281-4539-BE98-889FC3DCCB02}" dt="2026-02-04T10:03:30.231" v="3058"/>
        <pc:sldMkLst>
          <pc:docMk/>
          <pc:sldMk cId="3717993916" sldId="266"/>
        </pc:sldMkLst>
        <pc:spChg chg="add mod">
          <ac:chgData name="Francesco Pisaturo" userId="2afd5d91a406af1a" providerId="LiveId" clId="{B677D90C-D281-4539-BE98-889FC3DCCB02}" dt="2026-02-04T10:03:30.231" v="3058"/>
          <ac:spMkLst>
            <pc:docMk/>
            <pc:sldMk cId="3717993916" sldId="266"/>
            <ac:spMk id="3" creationId="{199839FE-52FF-8D42-ED7A-EDDCF81E18CD}"/>
          </ac:spMkLst>
        </pc:spChg>
      </pc:sldChg>
      <pc:sldChg chg="addSp delSp modSp new add del mod ord">
        <pc:chgData name="Francesco Pisaturo" userId="2afd5d91a406af1a" providerId="LiveId" clId="{B677D90C-D281-4539-BE98-889FC3DCCB02}" dt="2026-01-23T16:18:44.258" v="2924" actId="478"/>
        <pc:sldMkLst>
          <pc:docMk/>
          <pc:sldMk cId="2194226282" sldId="267"/>
        </pc:sldMkLst>
        <pc:spChg chg="add mod">
          <ac:chgData name="Francesco Pisaturo" userId="2afd5d91a406af1a" providerId="LiveId" clId="{B677D90C-D281-4539-BE98-889FC3DCCB02}" dt="2026-01-22T16:44:44.931" v="2908" actId="20577"/>
          <ac:spMkLst>
            <pc:docMk/>
            <pc:sldMk cId="2194226282" sldId="267"/>
            <ac:spMk id="5" creationId="{8010761D-E5DC-0609-955F-4699C72011A2}"/>
          </ac:spMkLst>
        </pc:spChg>
      </pc:sldChg>
      <pc:sldChg chg="addSp modSp new mod">
        <pc:chgData name="Francesco Pisaturo" userId="2afd5d91a406af1a" providerId="LiveId" clId="{B677D90C-D281-4539-BE98-889FC3DCCB02}" dt="2026-01-20T16:27:38.040" v="1978"/>
        <pc:sldMkLst>
          <pc:docMk/>
          <pc:sldMk cId="3658164605" sldId="268"/>
        </pc:sldMkLst>
        <pc:spChg chg="add mod">
          <ac:chgData name="Francesco Pisaturo" userId="2afd5d91a406af1a" providerId="LiveId" clId="{B677D90C-D281-4539-BE98-889FC3DCCB02}" dt="2026-01-20T16:27:38.040" v="1978"/>
          <ac:spMkLst>
            <pc:docMk/>
            <pc:sldMk cId="3658164605" sldId="268"/>
            <ac:spMk id="3" creationId="{23421565-FA49-833A-E45F-DAF7DD4A866E}"/>
          </ac:spMkLst>
        </pc:spChg>
      </pc:sldChg>
      <pc:sldChg chg="addSp modSp new mod ord">
        <pc:chgData name="Francesco Pisaturo" userId="2afd5d91a406af1a" providerId="LiveId" clId="{B677D90C-D281-4539-BE98-889FC3DCCB02}" dt="2026-01-22T11:25:59.410" v="2370"/>
        <pc:sldMkLst>
          <pc:docMk/>
          <pc:sldMk cId="3549596031" sldId="269"/>
        </pc:sldMkLst>
        <pc:spChg chg="add mod">
          <ac:chgData name="Francesco Pisaturo" userId="2afd5d91a406af1a" providerId="LiveId" clId="{B677D90C-D281-4539-BE98-889FC3DCCB02}" dt="2026-01-20T17:02:40.008" v="1981"/>
          <ac:spMkLst>
            <pc:docMk/>
            <pc:sldMk cId="3549596031" sldId="269"/>
            <ac:spMk id="3" creationId="{62D24D46-D3C2-877D-39E5-29C7ED21EF6B}"/>
          </ac:spMkLst>
        </pc:spChg>
      </pc:sldChg>
      <pc:sldChg chg="addSp modSp new mod ord">
        <pc:chgData name="Francesco Pisaturo" userId="2afd5d91a406af1a" providerId="LiveId" clId="{B677D90C-D281-4539-BE98-889FC3DCCB02}" dt="2026-01-22T11:26:03.559" v="2372"/>
        <pc:sldMkLst>
          <pc:docMk/>
          <pc:sldMk cId="817123225" sldId="270"/>
        </pc:sldMkLst>
        <pc:spChg chg="add mod">
          <ac:chgData name="Francesco Pisaturo" userId="2afd5d91a406af1a" providerId="LiveId" clId="{B677D90C-D281-4539-BE98-889FC3DCCB02}" dt="2026-01-20T17:26:02.955" v="1986" actId="123"/>
          <ac:spMkLst>
            <pc:docMk/>
            <pc:sldMk cId="817123225" sldId="270"/>
            <ac:spMk id="3" creationId="{9FED9791-D9E6-D108-561B-35DC2FE2FCAB}"/>
          </ac:spMkLst>
        </pc:spChg>
      </pc:sldChg>
      <pc:sldChg chg="addSp modSp new mod ord">
        <pc:chgData name="Francesco Pisaturo" userId="2afd5d91a406af1a" providerId="LiveId" clId="{B677D90C-D281-4539-BE98-889FC3DCCB02}" dt="2026-01-22T11:25:23.820" v="2360"/>
        <pc:sldMkLst>
          <pc:docMk/>
          <pc:sldMk cId="4197384485" sldId="271"/>
        </pc:sldMkLst>
      </pc:sldChg>
      <pc:sldChg chg="addSp modSp new mod ord">
        <pc:chgData name="Francesco Pisaturo" userId="2afd5d91a406af1a" providerId="LiveId" clId="{B677D90C-D281-4539-BE98-889FC3DCCB02}" dt="2026-01-22T11:25:30.391" v="2362"/>
        <pc:sldMkLst>
          <pc:docMk/>
          <pc:sldMk cId="3855527909" sldId="274"/>
        </pc:sldMkLst>
        <pc:spChg chg="mod">
          <ac:chgData name="Francesco Pisaturo" userId="2afd5d91a406af1a" providerId="LiveId" clId="{B677D90C-D281-4539-BE98-889FC3DCCB02}" dt="2026-01-20T14:57:34.919" v="1959" actId="20577"/>
          <ac:spMkLst>
            <pc:docMk/>
            <pc:sldMk cId="3855527909" sldId="274"/>
            <ac:spMk id="2" creationId="{0FC52BF7-1F50-0C4A-BA2C-AC3E866562AC}"/>
          </ac:spMkLst>
        </pc:spChg>
        <pc:spChg chg="add mod">
          <ac:chgData name="Francesco Pisaturo" userId="2afd5d91a406af1a" providerId="LiveId" clId="{B677D90C-D281-4539-BE98-889FC3DCCB02}" dt="2026-01-20T15:07:34.449" v="1961"/>
          <ac:spMkLst>
            <pc:docMk/>
            <pc:sldMk cId="3855527909" sldId="274"/>
            <ac:spMk id="3" creationId="{4FBF57A0-4213-C9CA-7890-4DD1DC3609E1}"/>
          </ac:spMkLst>
        </pc:spChg>
      </pc:sldChg>
      <pc:sldChg chg="addSp modSp new mod">
        <pc:chgData name="Francesco Pisaturo" userId="2afd5d91a406af1a" providerId="LiveId" clId="{B677D90C-D281-4539-BE98-889FC3DCCB02}" dt="2026-01-22T16:46:43.481" v="2910" actId="20577"/>
        <pc:sldMkLst>
          <pc:docMk/>
          <pc:sldMk cId="354747907" sldId="275"/>
        </pc:sldMkLst>
        <pc:spChg chg="add mod">
          <ac:chgData name="Francesco Pisaturo" userId="2afd5d91a406af1a" providerId="LiveId" clId="{B677D90C-D281-4539-BE98-889FC3DCCB02}" dt="2026-01-22T16:46:43.481" v="2910" actId="20577"/>
          <ac:spMkLst>
            <pc:docMk/>
            <pc:sldMk cId="354747907" sldId="275"/>
            <ac:spMk id="3" creationId="{9B899ABE-43E6-3197-07B1-C42EEFDFD66F}"/>
          </ac:spMkLst>
        </pc:spChg>
      </pc:sldChg>
      <pc:sldChg chg="addSp modSp new mod">
        <pc:chgData name="Francesco Pisaturo" userId="2afd5d91a406af1a" providerId="LiveId" clId="{B677D90C-D281-4539-BE98-889FC3DCCB02}" dt="2026-01-20T14:36:49.834" v="1939"/>
        <pc:sldMkLst>
          <pc:docMk/>
          <pc:sldMk cId="1086384796" sldId="276"/>
        </pc:sldMkLst>
        <pc:spChg chg="add mod">
          <ac:chgData name="Francesco Pisaturo" userId="2afd5d91a406af1a" providerId="LiveId" clId="{B677D90C-D281-4539-BE98-889FC3DCCB02}" dt="2026-01-20T14:36:49.834" v="1939"/>
          <ac:spMkLst>
            <pc:docMk/>
            <pc:sldMk cId="1086384796" sldId="276"/>
            <ac:spMk id="3" creationId="{4DA65594-A3B0-F1C1-4C2A-15C81A87AD6C}"/>
          </ac:spMkLst>
        </pc:spChg>
      </pc:sldChg>
      <pc:sldChg chg="addSp modSp new mod ord">
        <pc:chgData name="Francesco Pisaturo" userId="2afd5d91a406af1a" providerId="LiveId" clId="{B677D90C-D281-4539-BE98-889FC3DCCB02}" dt="2026-01-22T11:22:55.226" v="2352"/>
        <pc:sldMkLst>
          <pc:docMk/>
          <pc:sldMk cId="3706639008" sldId="277"/>
        </pc:sldMkLst>
        <pc:spChg chg="mod">
          <ac:chgData name="Francesco Pisaturo" userId="2afd5d91a406af1a" providerId="LiveId" clId="{B677D90C-D281-4539-BE98-889FC3DCCB02}" dt="2026-01-20T17:33:40.651" v="2023" actId="1076"/>
          <ac:spMkLst>
            <pc:docMk/>
            <pc:sldMk cId="3706639008" sldId="277"/>
            <ac:spMk id="2" creationId="{B0DAF141-8AE0-EBFA-FFA5-CE348007839B}"/>
          </ac:spMkLst>
        </pc:spChg>
        <pc:spChg chg="add mod">
          <ac:chgData name="Francesco Pisaturo" userId="2afd5d91a406af1a" providerId="LiveId" clId="{B677D90C-D281-4539-BE98-889FC3DCCB02}" dt="2026-01-20T17:33:51.483" v="2026" actId="123"/>
          <ac:spMkLst>
            <pc:docMk/>
            <pc:sldMk cId="3706639008" sldId="277"/>
            <ac:spMk id="3" creationId="{B7656D8E-A7BE-6109-AF6A-680BFCF86BDA}"/>
          </ac:spMkLst>
        </pc:spChg>
      </pc:sldChg>
      <pc:sldChg chg="addSp modSp new mod">
        <pc:chgData name="Francesco Pisaturo" userId="2afd5d91a406af1a" providerId="LiveId" clId="{B677D90C-D281-4539-BE98-889FC3DCCB02}" dt="2026-02-04T10:07:26.375" v="3084" actId="113"/>
        <pc:sldMkLst>
          <pc:docMk/>
          <pc:sldMk cId="3767538930" sldId="278"/>
        </pc:sldMkLst>
        <pc:spChg chg="mod">
          <ac:chgData name="Francesco Pisaturo" userId="2afd5d91a406af1a" providerId="LiveId" clId="{B677D90C-D281-4539-BE98-889FC3DCCB02}" dt="2026-01-20T17:36:27.562" v="2193" actId="1076"/>
          <ac:spMkLst>
            <pc:docMk/>
            <pc:sldMk cId="3767538930" sldId="278"/>
            <ac:spMk id="2" creationId="{1E5C1183-B7E2-3ABF-6E2A-F1F7E7505EDD}"/>
          </ac:spMkLst>
        </pc:spChg>
        <pc:spChg chg="add mod">
          <ac:chgData name="Francesco Pisaturo" userId="2afd5d91a406af1a" providerId="LiveId" clId="{B677D90C-D281-4539-BE98-889FC3DCCB02}" dt="2026-02-04T10:07:26.375" v="3084" actId="113"/>
          <ac:spMkLst>
            <pc:docMk/>
            <pc:sldMk cId="3767538930" sldId="278"/>
            <ac:spMk id="3" creationId="{AAAAFE13-FC4D-D69F-98FF-97DA61B71C44}"/>
          </ac:spMkLst>
        </pc:spChg>
      </pc:sldChg>
      <pc:sldChg chg="addSp delSp modSp new mod">
        <pc:chgData name="Francesco Pisaturo" userId="2afd5d91a406af1a" providerId="LiveId" clId="{B677D90C-D281-4539-BE98-889FC3DCCB02}" dt="2026-01-22T11:43:27.932" v="2390" actId="14100"/>
        <pc:sldMkLst>
          <pc:docMk/>
          <pc:sldMk cId="2786057266" sldId="279"/>
        </pc:sldMkLst>
        <pc:spChg chg="mod">
          <ac:chgData name="Francesco Pisaturo" userId="2afd5d91a406af1a" providerId="LiveId" clId="{B677D90C-D281-4539-BE98-889FC3DCCB02}" dt="2026-01-22T11:43:27.932" v="2390" actId="14100"/>
          <ac:spMkLst>
            <pc:docMk/>
            <pc:sldMk cId="2786057266" sldId="279"/>
            <ac:spMk id="2" creationId="{AE674882-5BE4-DF65-A06A-97B044E5E4B2}"/>
          </ac:spMkLst>
        </pc:spChg>
        <pc:spChg chg="add mod">
          <ac:chgData name="Francesco Pisaturo" userId="2afd5d91a406af1a" providerId="LiveId" clId="{B677D90C-D281-4539-BE98-889FC3DCCB02}" dt="2026-01-22T11:43:23.874" v="2389" actId="1076"/>
          <ac:spMkLst>
            <pc:docMk/>
            <pc:sldMk cId="2786057266" sldId="279"/>
            <ac:spMk id="6" creationId="{E587189A-17CC-AEC3-9C27-DAB78730EF05}"/>
          </ac:spMkLst>
        </pc:spChg>
      </pc:sldChg>
      <pc:sldChg chg="addSp modSp new mod ord">
        <pc:chgData name="Francesco Pisaturo" userId="2afd5d91a406af1a" providerId="LiveId" clId="{B677D90C-D281-4539-BE98-889FC3DCCB02}" dt="2026-01-22T11:39:49.259" v="2384" actId="14100"/>
        <pc:sldMkLst>
          <pc:docMk/>
          <pc:sldMk cId="1193186720" sldId="280"/>
        </pc:sldMkLst>
        <pc:spChg chg="mod">
          <ac:chgData name="Francesco Pisaturo" userId="2afd5d91a406af1a" providerId="LiveId" clId="{B677D90C-D281-4539-BE98-889FC3DCCB02}" dt="2026-01-22T11:39:49.259" v="2384" actId="14100"/>
          <ac:spMkLst>
            <pc:docMk/>
            <pc:sldMk cId="1193186720" sldId="280"/>
            <ac:spMk id="2" creationId="{EE627BD2-3016-0350-B279-867A0A520B2E}"/>
          </ac:spMkLst>
        </pc:spChg>
        <pc:spChg chg="add mod">
          <ac:chgData name="Francesco Pisaturo" userId="2afd5d91a406af1a" providerId="LiveId" clId="{B677D90C-D281-4539-BE98-889FC3DCCB02}" dt="2026-01-22T11:39:35.741" v="2382" actId="1076"/>
          <ac:spMkLst>
            <pc:docMk/>
            <pc:sldMk cId="1193186720" sldId="280"/>
            <ac:spMk id="3" creationId="{13E98F63-C3C3-C135-07D8-DB276FBD8E47}"/>
          </ac:spMkLst>
        </pc:spChg>
      </pc:sldChg>
      <pc:sldChg chg="addSp delSp modSp new mod">
        <pc:chgData name="Francesco Pisaturo" userId="2afd5d91a406af1a" providerId="LiveId" clId="{B677D90C-D281-4539-BE98-889FC3DCCB02}" dt="2026-01-24T17:11:25.056" v="2989" actId="14100"/>
        <pc:sldMkLst>
          <pc:docMk/>
          <pc:sldMk cId="772853656" sldId="281"/>
        </pc:sldMkLst>
        <pc:spChg chg="mod">
          <ac:chgData name="Francesco Pisaturo" userId="2afd5d91a406af1a" providerId="LiveId" clId="{B677D90C-D281-4539-BE98-889FC3DCCB02}" dt="2026-01-20T17:53:41.021" v="2346" actId="1076"/>
          <ac:spMkLst>
            <pc:docMk/>
            <pc:sldMk cId="772853656" sldId="281"/>
            <ac:spMk id="2" creationId="{2F4E2904-57C4-4577-3E96-AA2A5C48984F}"/>
          </ac:spMkLst>
        </pc:spChg>
        <pc:spChg chg="add mod">
          <ac:chgData name="Francesco Pisaturo" userId="2afd5d91a406af1a" providerId="LiveId" clId="{B677D90C-D281-4539-BE98-889FC3DCCB02}" dt="2026-01-22T12:01:56.057" v="2398" actId="1076"/>
          <ac:spMkLst>
            <pc:docMk/>
            <pc:sldMk cId="772853656" sldId="281"/>
            <ac:spMk id="3" creationId="{2548EBD3-76CF-1D41-6D27-6DEDEF72AA0A}"/>
          </ac:spMkLst>
        </pc:spChg>
        <pc:picChg chg="add mod modCrop">
          <ac:chgData name="Francesco Pisaturo" userId="2afd5d91a406af1a" providerId="LiveId" clId="{B677D90C-D281-4539-BE98-889FC3DCCB02}" dt="2026-01-24T17:11:25.056" v="2989" actId="14100"/>
          <ac:picMkLst>
            <pc:docMk/>
            <pc:sldMk cId="772853656" sldId="281"/>
            <ac:picMk id="5" creationId="{2C4A0D97-30C2-362E-F72D-33DC6B5EBB23}"/>
          </ac:picMkLst>
        </pc:picChg>
      </pc:sldChg>
      <pc:sldChg chg="addSp delSp modSp new mod">
        <pc:chgData name="Francesco Pisaturo" userId="2afd5d91a406af1a" providerId="LiveId" clId="{B677D90C-D281-4539-BE98-889FC3DCCB02}" dt="2026-01-22T16:26:20.924" v="2875" actId="1076"/>
        <pc:sldMkLst>
          <pc:docMk/>
          <pc:sldMk cId="4140458358" sldId="282"/>
        </pc:sldMkLst>
        <pc:spChg chg="mod">
          <ac:chgData name="Francesco Pisaturo" userId="2afd5d91a406af1a" providerId="LiveId" clId="{B677D90C-D281-4539-BE98-889FC3DCCB02}" dt="2026-01-22T16:26:20.924" v="2875" actId="1076"/>
          <ac:spMkLst>
            <pc:docMk/>
            <pc:sldMk cId="4140458358" sldId="282"/>
            <ac:spMk id="2" creationId="{C0755B4E-D897-874C-51BC-CC76F529DC83}"/>
          </ac:spMkLst>
        </pc:spChg>
        <pc:spChg chg="add del mod">
          <ac:chgData name="Francesco Pisaturo" userId="2afd5d91a406af1a" providerId="LiveId" clId="{B677D90C-D281-4539-BE98-889FC3DCCB02}" dt="2026-01-22T15:31:46.813" v="2597" actId="47"/>
          <ac:spMkLst>
            <pc:docMk/>
            <pc:sldMk cId="4140458358" sldId="282"/>
            <ac:spMk id="5" creationId="{FE42884F-2B72-2414-BC01-B218CF7D5CD6}"/>
          </ac:spMkLst>
        </pc:spChg>
        <pc:graphicFrameChg chg="add mod modGraphic">
          <ac:chgData name="Francesco Pisaturo" userId="2afd5d91a406af1a" providerId="LiveId" clId="{B677D90C-D281-4539-BE98-889FC3DCCB02}" dt="2026-01-22T15:35:11.118" v="2698" actId="14734"/>
          <ac:graphicFrameMkLst>
            <pc:docMk/>
            <pc:sldMk cId="4140458358" sldId="282"/>
            <ac:graphicFrameMk id="7" creationId="{C1E3CF79-FA1D-2DAF-3D6C-0DBE6B1EAC75}"/>
          </ac:graphicFrameMkLst>
        </pc:graphicFrameChg>
        <pc:graphicFrameChg chg="add mod modGraphic">
          <ac:chgData name="Francesco Pisaturo" userId="2afd5d91a406af1a" providerId="LiveId" clId="{B677D90C-D281-4539-BE98-889FC3DCCB02}" dt="2026-01-22T15:33:53.690" v="2655" actId="1076"/>
          <ac:graphicFrameMkLst>
            <pc:docMk/>
            <pc:sldMk cId="4140458358" sldId="282"/>
            <ac:graphicFrameMk id="10" creationId="{699D9CA8-3F51-C49E-6624-5E0F83DB83D7}"/>
          </ac:graphicFrameMkLst>
        </pc:graphicFrameChg>
      </pc:sldChg>
      <pc:sldChg chg="addSp modSp new mod">
        <pc:chgData name="Francesco Pisaturo" userId="2afd5d91a406af1a" providerId="LiveId" clId="{B677D90C-D281-4539-BE98-889FC3DCCB02}" dt="2026-01-22T16:26:32.786" v="2878" actId="14100"/>
        <pc:sldMkLst>
          <pc:docMk/>
          <pc:sldMk cId="1386038758" sldId="283"/>
        </pc:sldMkLst>
        <pc:spChg chg="mod">
          <ac:chgData name="Francesco Pisaturo" userId="2afd5d91a406af1a" providerId="LiveId" clId="{B677D90C-D281-4539-BE98-889FC3DCCB02}" dt="2026-01-22T16:26:32.786" v="2878" actId="14100"/>
          <ac:spMkLst>
            <pc:docMk/>
            <pc:sldMk cId="1386038758" sldId="283"/>
            <ac:spMk id="2" creationId="{CE7C8708-C75C-5B87-8630-D1CB49E36602}"/>
          </ac:spMkLst>
        </pc:spChg>
        <pc:graphicFrameChg chg="add mod modGraphic">
          <ac:chgData name="Francesco Pisaturo" userId="2afd5d91a406af1a" providerId="LiveId" clId="{B677D90C-D281-4539-BE98-889FC3DCCB02}" dt="2026-01-22T15:38:08.653" v="2794" actId="255"/>
          <ac:graphicFrameMkLst>
            <pc:docMk/>
            <pc:sldMk cId="1386038758" sldId="283"/>
            <ac:graphicFrameMk id="3" creationId="{6DAF5112-7DA8-4780-50E1-9CCAE0615854}"/>
          </ac:graphicFrameMkLst>
        </pc:graphicFrameChg>
        <pc:graphicFrameChg chg="add mod modGraphic">
          <ac:chgData name="Francesco Pisaturo" userId="2afd5d91a406af1a" providerId="LiveId" clId="{B677D90C-D281-4539-BE98-889FC3DCCB02}" dt="2026-01-22T15:39:10.433" v="2798" actId="1076"/>
          <ac:graphicFrameMkLst>
            <pc:docMk/>
            <pc:sldMk cId="1386038758" sldId="283"/>
            <ac:graphicFrameMk id="4" creationId="{198CAC4A-E827-3882-0BC8-260C4C24D0D8}"/>
          </ac:graphicFrameMkLst>
        </pc:graphicFrameChg>
      </pc:sldChg>
      <pc:sldChg chg="addSp modSp new mod">
        <pc:chgData name="Francesco Pisaturo" userId="2afd5d91a406af1a" providerId="LiveId" clId="{B677D90C-D281-4539-BE98-889FC3DCCB02}" dt="2026-01-22T16:27:05.560" v="2887" actId="1076"/>
        <pc:sldMkLst>
          <pc:docMk/>
          <pc:sldMk cId="2273911321" sldId="284"/>
        </pc:sldMkLst>
        <pc:spChg chg="mod">
          <ac:chgData name="Francesco Pisaturo" userId="2afd5d91a406af1a" providerId="LiveId" clId="{B677D90C-D281-4539-BE98-889FC3DCCB02}" dt="2026-01-22T16:27:05.560" v="2887" actId="1076"/>
          <ac:spMkLst>
            <pc:docMk/>
            <pc:sldMk cId="2273911321" sldId="284"/>
            <ac:spMk id="2" creationId="{29FEE369-8F3B-F385-B6BE-224F658AD8E8}"/>
          </ac:spMkLst>
        </pc:spChg>
        <pc:graphicFrameChg chg="add mod modGraphic">
          <ac:chgData name="Francesco Pisaturo" userId="2afd5d91a406af1a" providerId="LiveId" clId="{B677D90C-D281-4539-BE98-889FC3DCCB02}" dt="2026-01-22T16:24:56.382" v="2870" actId="120"/>
          <ac:graphicFrameMkLst>
            <pc:docMk/>
            <pc:sldMk cId="2273911321" sldId="284"/>
            <ac:graphicFrameMk id="3" creationId="{1C9026A5-C231-4C68-A9E2-6A17D7AF8DB3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B37671-DB48-4471-88AC-DBBC3B12ACF8}" type="datetimeFigureOut">
              <a:rPr lang="it-IT" smtClean="0"/>
              <a:t>04/02/2026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1E9ED5-E966-4154-BD5C-8C743696215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281667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1E9ED5-E966-4154-BD5C-8C7436962158}" type="slidenum">
              <a:rPr lang="it-IT" smtClean="0"/>
              <a:t>27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217203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609601"/>
            <a:ext cx="8676222" cy="3200400"/>
          </a:xfrm>
        </p:spPr>
        <p:txBody>
          <a:bodyPr anchor="b">
            <a:normAutofit/>
          </a:bodyPr>
          <a:lstStyle>
            <a:lvl1pPr algn="ctr">
              <a:defRPr sz="4800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76222" cy="1905000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/>
              <a:t>Fare clic per modificare lo stile del sottotitolo dello schema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1013" y="3308581"/>
            <a:ext cx="8686800" cy="1468800"/>
          </a:xfrm>
        </p:spPr>
        <p:txBody>
          <a:bodyPr anchor="b"/>
          <a:lstStyle>
            <a:lvl1pPr algn="r">
              <a:defRPr sz="4000" b="0" cap="all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51011" y="4777381"/>
            <a:ext cx="8686801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2" y="2666999"/>
            <a:ext cx="4876800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0612" y="2667000"/>
            <a:ext cx="4876800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29280" y="2658533"/>
            <a:ext cx="458893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2" y="3243262"/>
            <a:ext cx="4876800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43133" y="2667000"/>
            <a:ext cx="4604280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0612" y="3243262"/>
            <a:ext cx="4876801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2/4/2026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3549121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3812" y="609601"/>
            <a:ext cx="5943601" cy="51816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3549121" cy="18288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5334001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33733" y="-18288"/>
            <a:ext cx="3276599" cy="6903720"/>
          </a:xfr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080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5334001" cy="18288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399212" y="5883275"/>
            <a:ext cx="914400" cy="365125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2/4/2026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2" y="5883275"/>
            <a:ext cx="51054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42612" y="5883275"/>
            <a:ext cx="3225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magine panoramica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4732865"/>
            <a:ext cx="99060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796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3" y="5299603"/>
            <a:ext cx="9906000" cy="49371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olo e sotto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3124199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zio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buNone/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cheda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3308581"/>
            <a:ext cx="9906000" cy="14688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0" y="4777381"/>
            <a:ext cx="9906001" cy="86040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cheda nome cita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886200"/>
            <a:ext cx="9906000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it-IT"/>
              <a:t>Fare clic per modificare gli stili del testo dello schema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775200"/>
            <a:ext cx="9906000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505200"/>
            <a:ext cx="99060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it-IT"/>
              <a:t>Fare clic per modificare gli stili del testo dello schema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609599"/>
            <a:ext cx="2210514" cy="5181601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2" y="609600"/>
            <a:ext cx="7543800" cy="5181600"/>
          </a:xfrm>
        </p:spPr>
        <p:txBody>
          <a:bodyPr vert="eaVert" anchor="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3" y="2666999"/>
            <a:ext cx="9905998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37612" y="5883275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2/4/2026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2" y="5883275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2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1" r:id="rId9"/>
    <p:sldLayoutId id="2147483657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58" r:id="rId16"/>
    <p:sldLayoutId id="214748365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kern="1200" cap="all">
          <a:ln w="3175" cmpd="sng">
            <a:noFill/>
          </a:ln>
          <a:gradFill flip="none" rotWithShape="1">
            <a:gsLst>
              <a:gs pos="0">
                <a:schemeClr val="tx1"/>
              </a:gs>
              <a:gs pos="100000">
                <a:schemeClr val="tx1">
                  <a:lumMod val="6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65000"/>
                <a:lumOff val="35000"/>
                <a:alpha val="40000"/>
              </a:schemeClr>
            </a:glow>
            <a:outerShdw blurRad="28575" dist="38100" dir="1404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20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8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6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andslegal.it/compliance/pseudonimizzazione-e-gdpr-linee-guida-edpb/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517FB9D-7066-3D3B-8F59-FE3C2961526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it-IT" dirty="0"/>
              <a:t>Transazioni finanziarie in blockchain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F19127F5-1CD4-8B49-9602-2C0EDF17623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it-IT" dirty="0"/>
              <a:t>La finanza nel web 3.0</a:t>
            </a:r>
          </a:p>
        </p:txBody>
      </p:sp>
    </p:spTree>
    <p:extLst>
      <p:ext uri="{BB962C8B-B14F-4D97-AF65-F5344CB8AC3E}">
        <p14:creationId xmlns:p14="http://schemas.microsoft.com/office/powerpoint/2010/main" val="890663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3CB2B3B-914E-5777-8C8C-86E13D93BB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3338" y="457200"/>
            <a:ext cx="9834073" cy="914399"/>
          </a:xfrm>
        </p:spPr>
        <p:txBody>
          <a:bodyPr>
            <a:normAutofit/>
          </a:bodyPr>
          <a:lstStyle/>
          <a:p>
            <a:r>
              <a:rPr lang="it-IT" sz="4000" dirty="0" err="1"/>
              <a:t>ABstract</a:t>
            </a:r>
            <a:endParaRPr lang="it-IT" sz="4000" dirty="0"/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9EDC0689-CFD9-74D5-651F-A377A484DFD8}"/>
              </a:ext>
            </a:extLst>
          </p:cNvPr>
          <p:cNvSpPr txBox="1"/>
          <p:nvPr/>
        </p:nvSpPr>
        <p:spPr>
          <a:xfrm>
            <a:off x="1213338" y="1674674"/>
            <a:ext cx="1059473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it-IT" dirty="0"/>
              <a:t>La </a:t>
            </a:r>
            <a:r>
              <a:rPr lang="it-IT" b="1" dirty="0"/>
              <a:t>blockchain</a:t>
            </a:r>
            <a:r>
              <a:rPr lang="it-IT" dirty="0"/>
              <a:t> rappresenta un paradigma innovativo per finanza e Web 3.0, garantendo transazioni </a:t>
            </a:r>
            <a:r>
              <a:rPr lang="it-IT" b="1" dirty="0"/>
              <a:t>sicure, trasparenti e prive di intermediari centralizzati</a:t>
            </a:r>
            <a:r>
              <a:rPr lang="it-IT" dirty="0"/>
              <a:t>. In ambito finanziario abilita strumenti come </a:t>
            </a:r>
            <a:r>
              <a:rPr lang="it-IT" b="1" dirty="0" err="1"/>
              <a:t>DeFi</a:t>
            </a:r>
            <a:r>
              <a:rPr lang="it-IT" b="1" dirty="0"/>
              <a:t>, </a:t>
            </a:r>
            <a:r>
              <a:rPr lang="it-IT" b="1" dirty="0" err="1"/>
              <a:t>stablecoin</a:t>
            </a:r>
            <a:r>
              <a:rPr lang="it-IT" b="1" dirty="0"/>
              <a:t> e smart </a:t>
            </a:r>
            <a:r>
              <a:rPr lang="it-IT" b="1" dirty="0" err="1"/>
              <a:t>contract</a:t>
            </a:r>
            <a:r>
              <a:rPr lang="it-IT" dirty="0"/>
              <a:t>, automatizzando processi complessi e riducendo i costi. Nel Web 3.0 supporta </a:t>
            </a:r>
            <a:r>
              <a:rPr lang="it-IT" b="1" dirty="0"/>
              <a:t>ecosistemi digitali decentralizzati</a:t>
            </a:r>
            <a:r>
              <a:rPr lang="it-IT" dirty="0"/>
              <a:t>, in cui utenti controllano dati, asset e governance tramite </a:t>
            </a:r>
            <a:r>
              <a:rPr lang="it-IT" b="1" dirty="0"/>
              <a:t>NFT, token e DAO</a:t>
            </a:r>
            <a:r>
              <a:rPr lang="it-IT" dirty="0"/>
              <a:t>, promuovendo un’economia digitale più </a:t>
            </a:r>
            <a:r>
              <a:rPr lang="it-IT" b="1" dirty="0"/>
              <a:t>trasparente e partecipativa</a:t>
            </a:r>
            <a:r>
              <a:rPr lang="it-IT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813552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7F00ACD-286F-C190-2A74-7E2CD0562E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9640" y="354623"/>
            <a:ext cx="9552719" cy="867508"/>
          </a:xfrm>
        </p:spPr>
        <p:txBody>
          <a:bodyPr/>
          <a:lstStyle/>
          <a:p>
            <a:r>
              <a:rPr lang="it-IT" dirty="0"/>
              <a:t>Obiettivi del progetto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F3F9E540-9593-F33B-DC6C-5A942F07CBED}"/>
              </a:ext>
            </a:extLst>
          </p:cNvPr>
          <p:cNvSpPr txBox="1"/>
          <p:nvPr/>
        </p:nvSpPr>
        <p:spPr>
          <a:xfrm>
            <a:off x="1319640" y="1424353"/>
            <a:ext cx="10321375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it-IT" dirty="0"/>
              <a:t>Il progetto ha l’obiettivo di sfruttare la tecnologia blockchain per la registrazione di transazioni finanziarie in modo immutabile, verificabile e resistente a manomissioni, riducendo il rischio di alterazioni o falsificazioni dei dati. Il sistema è progettato per garantire operazioni sicure e affidabili attraverso l’uso di firme crittografiche e la separazione tra gestione on-chain e off-chain delle informazioni, migliorando l’efficienza e la scalabilità complessiva. L’architettura adottata applica una pseudonimizzazione dei dati degli utenti, mantenendo al contempo la tracciabilità delle operazioni e la possibilità di verifica a posteriori. Il progetto dimostra come le tecnologie Web 3.0 possano essere applicate in ambito finanziario per incrementare la trasparenza, l’integrità dei dati e l’affidabilità delle transazioni, con potenziali applicazioni in contesti regolamentati e ad elevata esigenza di sicurezza.</a:t>
            </a:r>
          </a:p>
        </p:txBody>
      </p:sp>
    </p:spTree>
    <p:extLst>
      <p:ext uri="{BB962C8B-B14F-4D97-AF65-F5344CB8AC3E}">
        <p14:creationId xmlns:p14="http://schemas.microsoft.com/office/powerpoint/2010/main" val="10138700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9D1CFD1-CE3F-696E-377F-2E8E9B7E09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3987" y="451339"/>
            <a:ext cx="10344026" cy="920262"/>
          </a:xfrm>
        </p:spPr>
        <p:txBody>
          <a:bodyPr/>
          <a:lstStyle/>
          <a:p>
            <a:r>
              <a:rPr lang="it-IT" dirty="0"/>
              <a:t>Contesto applicativo e problema affrontato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4DA65594-A3B0-F1C1-4C2A-15C81A87AD6C}"/>
              </a:ext>
            </a:extLst>
          </p:cNvPr>
          <p:cNvSpPr txBox="1"/>
          <p:nvPr/>
        </p:nvSpPr>
        <p:spPr>
          <a:xfrm>
            <a:off x="1081454" y="1371601"/>
            <a:ext cx="10186559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it-IT" dirty="0"/>
              <a:t>Nei sistemi finanziari digitali, la dimostrazione dell’autenticità e dell’integrità delle transazioni rappresenta una criticità rilevante, in particolare nei contesti di audit, controllo e verifica legale. Le soluzioni tradizionali si basano prevalentemente su architetture centralizzate, nelle quali l’affidabilità del dato dipende da un singolo ente di controllo, esponendo le informazioni a rischi di alterazione, contestazione o perdita di fiducia da parte degli attori coinvolti. In tali scenari, la mancanza di meccanismi di verifica indipendente e immutabile può compromettere la trasparenza e la validità delle operazioni registrate. Il progetto nasce per rispondere a questa esigenza, adottando la tecnologia blockchain come strumento di certificazione immutabile delle transazioni finanziarie, integrando meccanismi crittografici che garantiscono l’integrità dei dati, la tracciabilità delle operazioni e la possibilità di verifica a posteriori, anche in contesti regolamentati e ad elevata esigenza di sicurezza.</a:t>
            </a:r>
          </a:p>
        </p:txBody>
      </p:sp>
    </p:spTree>
    <p:extLst>
      <p:ext uri="{BB962C8B-B14F-4D97-AF65-F5344CB8AC3E}">
        <p14:creationId xmlns:p14="http://schemas.microsoft.com/office/powerpoint/2010/main" val="10863847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068F783-4331-CEB3-E976-6EEEBE48D5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9833" y="360347"/>
            <a:ext cx="9992334" cy="923330"/>
          </a:xfrm>
        </p:spPr>
        <p:txBody>
          <a:bodyPr/>
          <a:lstStyle/>
          <a:p>
            <a:r>
              <a:rPr lang="it-IT" dirty="0"/>
              <a:t>Case study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C89F0209-5245-914C-C915-23EFA13F2FAC}"/>
              </a:ext>
            </a:extLst>
          </p:cNvPr>
          <p:cNvSpPr txBox="1"/>
          <p:nvPr/>
        </p:nvSpPr>
        <p:spPr>
          <a:xfrm>
            <a:off x="1099833" y="1283677"/>
            <a:ext cx="10770577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it-IT" dirty="0"/>
              <a:t>Il caso di studio analizza un sistema di registrazione e certificazione di operazioni di trading finanziario in un ambiente simulato, utilizzando record strutturati che rappresentano transazioni di acquisto e vendita di strumenti finanziari. Ogni operazione è descritta sotto forma di record strutturato, organizzato secondo uno schema uniforme che descrive in maniera chiara la tipologia di operazione, l’asset coinvolto, l’importo, il prezzo e il momento della registrazione. Ogni operazione viene quindi associata a un identificativo crittografico, garantendo l’integrità e l’immutabilità dei dati. successivamente firmato e registrato sulla blockchain, garantendo l’integrità del dato e l’impossibilità di alterazione a posteriori. </a:t>
            </a:r>
          </a:p>
          <a:p>
            <a:pPr algn="just"/>
            <a:r>
              <a:rPr lang="it-IT" dirty="0"/>
              <a:t>Le informazioni complete vengono gestite off-chain, mentre sulla blockchain viene conservata esclusivamente la prova crittografica della transazione, assicurando un equilibrio tra verificabilità, efficienza e pseudonimizzazione. Il caso di studio dimostra come un’architettura basata su blockchain possa essere utilizzata come strumento di certificazione e audit delle operazioni finanziarie, risultando idonea a contesti di verifica tecnica e legale senza richiedere l’accesso a piattaforme di trading reali o a dati sensibili.</a:t>
            </a:r>
          </a:p>
        </p:txBody>
      </p:sp>
    </p:spTree>
    <p:extLst>
      <p:ext uri="{BB962C8B-B14F-4D97-AF65-F5344CB8AC3E}">
        <p14:creationId xmlns:p14="http://schemas.microsoft.com/office/powerpoint/2010/main" val="25949022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BB4E213-A579-CA41-3D6C-42ECFE1D24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7211" y="354624"/>
            <a:ext cx="11255496" cy="823546"/>
          </a:xfrm>
        </p:spPr>
        <p:txBody>
          <a:bodyPr>
            <a:noAutofit/>
          </a:bodyPr>
          <a:lstStyle/>
          <a:p>
            <a:r>
              <a:rPr lang="it-IT" dirty="0"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</a:effectLst>
              </a:rPr>
              <a:t>Vantaggi e sicurezza della soluzione blockchain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8B59705-406F-E159-45CC-593B18DC92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7211" y="1720840"/>
            <a:ext cx="11255496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just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it-IT" dirty="0"/>
              <a:t>La </a:t>
            </a:r>
            <a:r>
              <a:rPr lang="it-IT" b="1" dirty="0"/>
              <a:t>blockchain</a:t>
            </a:r>
            <a:r>
              <a:rPr lang="it-IT" dirty="0"/>
              <a:t> viene adottata nel progetto per garantire </a:t>
            </a:r>
            <a:r>
              <a:rPr lang="it-IT" b="1" dirty="0"/>
              <a:t>immutabilità</a:t>
            </a:r>
            <a:r>
              <a:rPr lang="it-IT" dirty="0"/>
              <a:t>, </a:t>
            </a:r>
            <a:r>
              <a:rPr lang="it-IT" b="1" dirty="0"/>
              <a:t>trasparenza</a:t>
            </a:r>
            <a:r>
              <a:rPr lang="it-IT" dirty="0"/>
              <a:t> e </a:t>
            </a:r>
            <a:r>
              <a:rPr lang="it-IT" b="1" dirty="0"/>
              <a:t>sicurezza</a:t>
            </a:r>
            <a:r>
              <a:rPr lang="it-IT" dirty="0"/>
              <a:t> delle transazioni finanziarie digitali, assicurando che ogni operazione sia registrata in modo </a:t>
            </a:r>
            <a:r>
              <a:rPr lang="it-IT" b="1" dirty="0"/>
              <a:t>inalterabile</a:t>
            </a:r>
            <a:r>
              <a:rPr lang="it-IT" dirty="0"/>
              <a:t> e verificabile. Sulla blockchain vengono memorizzati </a:t>
            </a:r>
            <a:r>
              <a:rPr lang="it-IT" b="1" dirty="0"/>
              <a:t>solo l’</a:t>
            </a:r>
            <a:r>
              <a:rPr lang="it-IT" b="1" dirty="0" err="1"/>
              <a:t>operationHash</a:t>
            </a:r>
            <a:r>
              <a:rPr lang="it-IT" b="1" dirty="0"/>
              <a:t> e la firma digitale</a:t>
            </a:r>
            <a:r>
              <a:rPr lang="it-IT" dirty="0"/>
              <a:t>, creando una prova </a:t>
            </a:r>
            <a:r>
              <a:rPr lang="it-IT" b="1" dirty="0"/>
              <a:t>crittograficamente valida</a:t>
            </a:r>
            <a:r>
              <a:rPr lang="it-IT" dirty="0"/>
              <a:t>, </a:t>
            </a:r>
            <a:r>
              <a:rPr lang="it-IT" b="1" dirty="0"/>
              <a:t>verificabile</a:t>
            </a:r>
            <a:r>
              <a:rPr lang="it-IT" dirty="0"/>
              <a:t> e </a:t>
            </a:r>
            <a:r>
              <a:rPr lang="it-IT" b="1" dirty="0"/>
              <a:t>opponibile legalmente</a:t>
            </a:r>
            <a:r>
              <a:rPr lang="it-IT" dirty="0"/>
              <a:t>, senza esporre i dati completi. Questo approccio riduce significativamente il rischio di </a:t>
            </a:r>
            <a:r>
              <a:rPr lang="it-IT" b="1" dirty="0"/>
              <a:t>manomissioni</a:t>
            </a:r>
            <a:r>
              <a:rPr lang="it-IT" dirty="0"/>
              <a:t>, </a:t>
            </a:r>
            <a:r>
              <a:rPr lang="it-IT" b="1" dirty="0"/>
              <a:t>frodi</a:t>
            </a:r>
            <a:r>
              <a:rPr lang="it-IT" dirty="0"/>
              <a:t> e </a:t>
            </a:r>
            <a:r>
              <a:rPr lang="it-IT" b="1" dirty="0"/>
              <a:t>contestazioni legali</a:t>
            </a:r>
            <a:r>
              <a:rPr lang="it-IT" dirty="0"/>
              <a:t>, mantenendo l’integrità del registro distribuito. I dati completi delle transazioni rimangono </a:t>
            </a:r>
            <a:r>
              <a:rPr lang="it-IT" b="1" dirty="0"/>
              <a:t>off-chain</a:t>
            </a:r>
            <a:r>
              <a:rPr lang="it-IT" dirty="0"/>
              <a:t>, dove possono essere gestiti con maggiore </a:t>
            </a:r>
            <a:r>
              <a:rPr lang="it-IT" b="1" dirty="0"/>
              <a:t>controllo</a:t>
            </a:r>
            <a:r>
              <a:rPr lang="it-IT" dirty="0"/>
              <a:t>, </a:t>
            </a:r>
            <a:r>
              <a:rPr lang="it-IT" b="1" dirty="0"/>
              <a:t>riservatezza</a:t>
            </a:r>
            <a:r>
              <a:rPr lang="it-IT" dirty="0"/>
              <a:t> e possibilità di audit. L’architettura ibrida adottata permette di combinare la </a:t>
            </a:r>
            <a:r>
              <a:rPr lang="it-IT" b="1" dirty="0"/>
              <a:t>sicurezza intrinseca della blockchain</a:t>
            </a:r>
            <a:r>
              <a:rPr lang="it-IT" dirty="0"/>
              <a:t> con la </a:t>
            </a:r>
            <a:r>
              <a:rPr lang="it-IT" b="1" dirty="0"/>
              <a:t>flessibilità e l’efficienza</a:t>
            </a:r>
            <a:r>
              <a:rPr lang="it-IT" dirty="0"/>
              <a:t> dei sistemi tradizionali, garantendo </a:t>
            </a:r>
            <a:r>
              <a:rPr lang="it-IT" b="1" dirty="0"/>
              <a:t>tracciabilità</a:t>
            </a:r>
            <a:r>
              <a:rPr lang="it-IT" dirty="0"/>
              <a:t>, </a:t>
            </a:r>
            <a:r>
              <a:rPr lang="it-IT" b="1" dirty="0"/>
              <a:t>affidabilità</a:t>
            </a:r>
            <a:r>
              <a:rPr lang="it-IT" dirty="0"/>
              <a:t> e </a:t>
            </a:r>
            <a:r>
              <a:rPr lang="it-IT" b="1" dirty="0"/>
              <a:t>verificabilità legale</a:t>
            </a:r>
            <a:r>
              <a:rPr lang="it-IT" dirty="0"/>
              <a:t> in ogni fase del ciclo di vita della transazione. In questo modo, il sistema assicura che ogni operazione sia </a:t>
            </a:r>
            <a:r>
              <a:rPr lang="it-IT" b="1" dirty="0"/>
              <a:t>certificata</a:t>
            </a:r>
            <a:r>
              <a:rPr lang="it-IT" dirty="0"/>
              <a:t>, </a:t>
            </a:r>
            <a:r>
              <a:rPr lang="it-IT" b="1" dirty="0" err="1"/>
              <a:t>auditabile</a:t>
            </a:r>
            <a:r>
              <a:rPr lang="it-IT" dirty="0"/>
              <a:t> e pronta per eventuali controlli normativi o legali, offrendo un reale valore aggiunto in contesti finanziari digitali sicuri.</a:t>
            </a:r>
            <a:endParaRPr kumimoji="0" lang="it-IT" altLang="it-IT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70343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0DAF141-8AE0-EBFA-FFA5-CE34800783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4799" y="257908"/>
            <a:ext cx="10042402" cy="1034562"/>
          </a:xfrm>
        </p:spPr>
        <p:txBody>
          <a:bodyPr/>
          <a:lstStyle/>
          <a:p>
            <a:r>
              <a:rPr lang="it-IT" dirty="0"/>
              <a:t>Tipologia di blockchain adottata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B7656D8E-A7BE-6109-AF6A-680BFCF86BDA}"/>
              </a:ext>
            </a:extLst>
          </p:cNvPr>
          <p:cNvSpPr txBox="1"/>
          <p:nvPr/>
        </p:nvSpPr>
        <p:spPr>
          <a:xfrm>
            <a:off x="1090246" y="1661746"/>
            <a:ext cx="1008477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it-IT" dirty="0"/>
              <a:t>Il progetto utilizza una blockchain pubblica di tipo </a:t>
            </a:r>
            <a:r>
              <a:rPr lang="it-IT" dirty="0" err="1"/>
              <a:t>permissionless</a:t>
            </a:r>
            <a:r>
              <a:rPr lang="it-IT" dirty="0"/>
              <a:t>, basata su un modello </a:t>
            </a:r>
            <a:r>
              <a:rPr lang="it-IT" dirty="0" err="1"/>
              <a:t>Ethereum</a:t>
            </a:r>
            <a:r>
              <a:rPr lang="it-IT" dirty="0"/>
              <a:t>-like. L’accesso alla rete avviene tramite </a:t>
            </a:r>
            <a:r>
              <a:rPr lang="it-IT" dirty="0" err="1"/>
              <a:t>wallet</a:t>
            </a:r>
            <a:r>
              <a:rPr lang="it-IT" dirty="0"/>
              <a:t> decentralizzati, senza meccanismi di autorizzazione centralizzati o ruoli privilegiati. Sebbene l’implementazione avvenga in un ambiente di test locale, l’architettura e il modello di sicurezza rispecchiano quelli di una blockchain pubblica, garantendo trasparenza, verificabilità e immutabilità delle operazioni registrate.</a:t>
            </a:r>
          </a:p>
        </p:txBody>
      </p:sp>
    </p:spTree>
    <p:extLst>
      <p:ext uri="{BB962C8B-B14F-4D97-AF65-F5344CB8AC3E}">
        <p14:creationId xmlns:p14="http://schemas.microsoft.com/office/powerpoint/2010/main" val="37066390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6D3E40C-741F-5D77-0B89-A9B4718C9C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342900"/>
            <a:ext cx="9909174" cy="861646"/>
          </a:xfrm>
        </p:spPr>
        <p:txBody>
          <a:bodyPr/>
          <a:lstStyle/>
          <a:p>
            <a:r>
              <a:rPr lang="it-IT" dirty="0"/>
              <a:t>Tecnologie usate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9B96943F-B7F9-9A04-9246-658E8E3177AB}"/>
              </a:ext>
            </a:extLst>
          </p:cNvPr>
          <p:cNvSpPr txBox="1"/>
          <p:nvPr/>
        </p:nvSpPr>
        <p:spPr>
          <a:xfrm>
            <a:off x="1141413" y="1714500"/>
            <a:ext cx="1063148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it-IT" dirty="0"/>
              <a:t>Il progetto si basa su un’architettura tecnologica integrata che utilizza </a:t>
            </a:r>
            <a:r>
              <a:rPr lang="it-IT" b="1" dirty="0" err="1"/>
              <a:t>Solidity</a:t>
            </a:r>
            <a:r>
              <a:rPr lang="it-IT" dirty="0"/>
              <a:t> per gli smart </a:t>
            </a:r>
            <a:r>
              <a:rPr lang="it-IT" dirty="0" err="1"/>
              <a:t>contract</a:t>
            </a:r>
            <a:r>
              <a:rPr lang="it-IT" dirty="0"/>
              <a:t> sulla blockchain, </a:t>
            </a:r>
            <a:r>
              <a:rPr lang="it-IT" b="1" dirty="0"/>
              <a:t>HTML, JavaScript </a:t>
            </a:r>
            <a:r>
              <a:rPr lang="it-IT" dirty="0"/>
              <a:t>e </a:t>
            </a:r>
            <a:r>
              <a:rPr lang="it-IT" b="1" dirty="0"/>
              <a:t>CSS</a:t>
            </a:r>
            <a:r>
              <a:rPr lang="it-IT" dirty="0"/>
              <a:t> per sviluppare l’interfaccia utente e le funzionalità di </a:t>
            </a:r>
            <a:r>
              <a:rPr lang="it-IT" dirty="0" err="1"/>
              <a:t>backend</a:t>
            </a:r>
            <a:r>
              <a:rPr lang="it-IT" dirty="0"/>
              <a:t>, </a:t>
            </a:r>
            <a:r>
              <a:rPr lang="it-IT" b="1" dirty="0"/>
              <a:t>Node.js</a:t>
            </a:r>
            <a:r>
              <a:rPr lang="it-IT" dirty="0"/>
              <a:t> per la gestione del server e </a:t>
            </a:r>
            <a:r>
              <a:rPr lang="it-IT" b="1" dirty="0"/>
              <a:t>JSON</a:t>
            </a:r>
            <a:r>
              <a:rPr lang="it-IT" dirty="0"/>
              <a:t> per la conservazione dei dati off-chain. Questa combinazione consente di registrare le transazioni in modo immutabile e trasparente, automatizzando i processi senza necessità di intermediari e garantendo la verifica legale delle operazioni. L’approccio assicura inoltre la creazione di una prova digitale sicura, tracciabile e </a:t>
            </a:r>
            <a:r>
              <a:rPr lang="it-IT" dirty="0" err="1"/>
              <a:t>auditabile</a:t>
            </a:r>
            <a:r>
              <a:rPr lang="it-IT" dirty="0"/>
              <a:t>, riducendo significativamente il rischio di frodi o contestazioni legali e aumentando la fiducia tra le parti coinvolte nelle transazioni finanziarie.</a:t>
            </a:r>
          </a:p>
        </p:txBody>
      </p:sp>
    </p:spTree>
    <p:extLst>
      <p:ext uri="{BB962C8B-B14F-4D97-AF65-F5344CB8AC3E}">
        <p14:creationId xmlns:p14="http://schemas.microsoft.com/office/powerpoint/2010/main" val="41084148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5F13367-ABE8-BF53-C699-8524EE84CD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5947" y="219807"/>
            <a:ext cx="9376873" cy="940777"/>
          </a:xfrm>
        </p:spPr>
        <p:txBody>
          <a:bodyPr/>
          <a:lstStyle/>
          <a:p>
            <a:r>
              <a:rPr lang="it-IT" dirty="0"/>
              <a:t>Struttura del progetto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199839FE-52FF-8D42-ED7A-EDDCF81E18CD}"/>
              </a:ext>
            </a:extLst>
          </p:cNvPr>
          <p:cNvSpPr txBox="1"/>
          <p:nvPr/>
        </p:nvSpPr>
        <p:spPr>
          <a:xfrm>
            <a:off x="975947" y="1160584"/>
            <a:ext cx="10402093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it-IT" dirty="0"/>
              <a:t>Il progetto implementa un flusso modulare e sicuro per la gestione e la certificazione delle transazioni finanziarie. Il processo inizia con una transazione strutturata secondo un formato specifico. Da questa transazione, vengono generati </a:t>
            </a:r>
            <a:r>
              <a:rPr lang="it-IT" dirty="0" err="1"/>
              <a:t>hash</a:t>
            </a:r>
            <a:r>
              <a:rPr lang="it-IT" dirty="0"/>
              <a:t> crittografici direttamente da riga di comando, che vengono contestualmente archiviati off-chain per garantirne la conservazione sicura e l’integrità. Successivamente, tramite una piattaforma web, gli </a:t>
            </a:r>
            <a:r>
              <a:rPr lang="it-IT" dirty="0" err="1"/>
              <a:t>hash</a:t>
            </a:r>
            <a:r>
              <a:rPr lang="it-IT" dirty="0"/>
              <a:t> vengono inseriti sulla blockchain, rendendo le transazioni verificabili in maniera trasparente e opponibile legalmente. Questo approccio ibrido combina l’efficienza dei sistemi off-chain con la sicurezza, l’immutabilità e la tracciabilità garantite dalla blockchain, proteggendo al contempo l’identità degli utenti e assicurando </a:t>
            </a:r>
            <a:r>
              <a:rPr lang="it-IT" dirty="0" err="1"/>
              <a:t>auditabilità</a:t>
            </a:r>
            <a:r>
              <a:rPr lang="it-IT" dirty="0"/>
              <a:t> completa delle operazioni.</a:t>
            </a:r>
          </a:p>
        </p:txBody>
      </p:sp>
    </p:spTree>
    <p:extLst>
      <p:ext uri="{BB962C8B-B14F-4D97-AF65-F5344CB8AC3E}">
        <p14:creationId xmlns:p14="http://schemas.microsoft.com/office/powerpoint/2010/main" val="37179939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A7B34D2-DDA7-4A1B-A45F-D8F2300977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7638" y="325315"/>
            <a:ext cx="7952519" cy="685800"/>
          </a:xfrm>
        </p:spPr>
        <p:txBody>
          <a:bodyPr/>
          <a:lstStyle/>
          <a:p>
            <a:r>
              <a:rPr lang="it-IT" dirty="0"/>
              <a:t>Dati presenti nella transazione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B74BF7EF-3435-419C-941E-436284EF34B0}"/>
              </a:ext>
            </a:extLst>
          </p:cNvPr>
          <p:cNvSpPr txBox="1"/>
          <p:nvPr/>
        </p:nvSpPr>
        <p:spPr>
          <a:xfrm>
            <a:off x="1327638" y="1397675"/>
            <a:ext cx="1055077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it-IT" dirty="0"/>
              <a:t>Ogni transazione registrata nel sistema consiste in informazioni essenziali quali tipologia di operazione, asset, quantità, prezzo e </a:t>
            </a:r>
            <a:r>
              <a:rPr lang="it-IT" dirty="0" err="1"/>
              <a:t>timestamp</a:t>
            </a:r>
            <a:r>
              <a:rPr lang="it-IT" dirty="0"/>
              <a:t>. Questi dati, organizzati in record strutturati e associati a un identificativo crittografico conservato sulla blockchain, permettono di tracciare ogni operazione con precisione, garantendo integrità, verificabilità e trasparenza. La registrazione strutturata dei record facilita audit e controlli, prevenendo manomissioni o accessi non autorizzati, e assicura che ogni transazione possa essere ricostruita e verificata in modo sicuro all’interno del sistema finanziario simulato.</a:t>
            </a:r>
          </a:p>
        </p:txBody>
      </p:sp>
    </p:spTree>
    <p:extLst>
      <p:ext uri="{BB962C8B-B14F-4D97-AF65-F5344CB8AC3E}">
        <p14:creationId xmlns:p14="http://schemas.microsoft.com/office/powerpoint/2010/main" val="10661035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911B55F-75B3-4853-0F0C-402D405D1D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389793"/>
            <a:ext cx="9905998" cy="744415"/>
          </a:xfrm>
        </p:spPr>
        <p:txBody>
          <a:bodyPr/>
          <a:lstStyle/>
          <a:p>
            <a:r>
              <a:rPr lang="it-IT" dirty="0"/>
              <a:t>Applicazione del progetto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4713A02C-FDD5-1735-994C-2D20D3C85602}"/>
              </a:ext>
            </a:extLst>
          </p:cNvPr>
          <p:cNvSpPr txBox="1"/>
          <p:nvPr/>
        </p:nvSpPr>
        <p:spPr>
          <a:xfrm>
            <a:off x="1208149" y="1679332"/>
            <a:ext cx="977252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it-IT" dirty="0"/>
              <a:t>Il progetto trova applicazione in contesti in cui è richiesta </a:t>
            </a:r>
            <a:r>
              <a:rPr lang="it-IT" b="1" dirty="0"/>
              <a:t>elevata affidabilità, tracciabilità e valore probatorio</a:t>
            </a:r>
            <a:r>
              <a:rPr lang="it-IT" dirty="0"/>
              <a:t> delle transazioni finanziarie. Può essere utilizzato da istituzioni finanziarie, aziende, studi legali e revisori per registrare operazioni in modo verificabile, prevenire contestazioni e supportare attività di audit e compliance. La soluzione è adatta anche al monitoraggio di flussi economici digitali, alla certificazione di operazioni sensibili e alla conservazione di evidenze finanziarie nel tempo, offrendo un sistema </a:t>
            </a:r>
            <a:r>
              <a:rPr lang="it-IT" b="1" dirty="0"/>
              <a:t>sicuro, trasparente e legalmente utilizzabile</a:t>
            </a:r>
            <a:r>
              <a:rPr lang="it-IT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973844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50D34EA-3B40-2A35-CBDF-06649E3940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7513" y="342899"/>
            <a:ext cx="10176973" cy="826477"/>
          </a:xfrm>
        </p:spPr>
        <p:txBody>
          <a:bodyPr/>
          <a:lstStyle/>
          <a:p>
            <a:r>
              <a:rPr lang="it-IT" dirty="0"/>
              <a:t>Inserimento sicuro dei dati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8010761D-E5DC-0609-955F-4699C72011A2}"/>
              </a:ext>
            </a:extLst>
          </p:cNvPr>
          <p:cNvSpPr txBox="1"/>
          <p:nvPr/>
        </p:nvSpPr>
        <p:spPr>
          <a:xfrm>
            <a:off x="1007513" y="1169376"/>
            <a:ext cx="10862102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it-IT" dirty="0"/>
              <a:t>Le transazioni vengono create tramite riga di comando, dove il </a:t>
            </a:r>
            <a:r>
              <a:rPr lang="it-IT" dirty="0" err="1"/>
              <a:t>TrustedSigner</a:t>
            </a:r>
            <a:r>
              <a:rPr lang="it-IT" dirty="0"/>
              <a:t> genera l’</a:t>
            </a:r>
            <a:r>
              <a:rPr lang="it-IT" dirty="0" err="1"/>
              <a:t>hash</a:t>
            </a:r>
            <a:r>
              <a:rPr lang="it-IT" dirty="0"/>
              <a:t> crittografico e la firma per ciascun record. I dati completi vengono conservati off-chain, garantendo riservatezza, controllo degli accessi e protezione da manomissioni. L’accesso alla piattaforma web avviene tramite </a:t>
            </a:r>
            <a:r>
              <a:rPr lang="it-IT" dirty="0" err="1"/>
              <a:t>MetaMask</a:t>
            </a:r>
            <a:r>
              <a:rPr lang="it-IT" dirty="0"/>
              <a:t>, che fornisce un login decentralizzato sicuro e controllato dall’utente. Questo flusso assicura integrità, tracciabilità e verificabilità delle operazioni, preservando la sicurezza dei dati sensibili.</a:t>
            </a:r>
          </a:p>
        </p:txBody>
      </p:sp>
    </p:spTree>
    <p:extLst>
      <p:ext uri="{BB962C8B-B14F-4D97-AF65-F5344CB8AC3E}">
        <p14:creationId xmlns:p14="http://schemas.microsoft.com/office/powerpoint/2010/main" val="21942262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10021B1-4B60-A059-14D7-0F1B162F76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272561"/>
            <a:ext cx="10095156" cy="923330"/>
          </a:xfrm>
        </p:spPr>
        <p:txBody>
          <a:bodyPr/>
          <a:lstStyle/>
          <a:p>
            <a:r>
              <a:rPr lang="it-IT" dirty="0"/>
              <a:t>Modalità di inserimento in blockchain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7284B38C-56F1-2D57-3A5A-B1D9126D5506}"/>
              </a:ext>
            </a:extLst>
          </p:cNvPr>
          <p:cNvSpPr txBox="1"/>
          <p:nvPr/>
        </p:nvSpPr>
        <p:spPr>
          <a:xfrm>
            <a:off x="1141413" y="1397675"/>
            <a:ext cx="1081612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L’</a:t>
            </a:r>
            <a:r>
              <a:rPr lang="it-IT" dirty="0" err="1"/>
              <a:t>hash</a:t>
            </a:r>
            <a:r>
              <a:rPr lang="it-IT" dirty="0"/>
              <a:t> e la firma digitale generati dal </a:t>
            </a:r>
            <a:r>
              <a:rPr lang="it-IT" dirty="0" err="1"/>
              <a:t>TrustedSigner</a:t>
            </a:r>
            <a:r>
              <a:rPr lang="it-IT" dirty="0"/>
              <a:t> vengono registrati sulla blockchain on-chain, assicurando immutabilità, tracciabilità e opponibilità legale delle transazioni. Le informazioni complete rimangono archiviate off-chain, garantendo efficienza e sicurezza nella gestione dei dati. La combinazione di on-chain e off-chain consente di proteggere i dati sensibili pur mantenendo piena verificabilità, </a:t>
            </a:r>
            <a:r>
              <a:rPr lang="it-IT" dirty="0" err="1"/>
              <a:t>auditabilità</a:t>
            </a:r>
            <a:r>
              <a:rPr lang="it-IT" dirty="0"/>
              <a:t> e conformità legale delle operazioni.</a:t>
            </a:r>
          </a:p>
        </p:txBody>
      </p:sp>
    </p:spTree>
    <p:extLst>
      <p:ext uri="{BB962C8B-B14F-4D97-AF65-F5344CB8AC3E}">
        <p14:creationId xmlns:p14="http://schemas.microsoft.com/office/powerpoint/2010/main" val="25167107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FC52BF7-1F50-0C4A-BA2C-AC3E866562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4589" y="117231"/>
            <a:ext cx="10071465" cy="858715"/>
          </a:xfrm>
        </p:spPr>
        <p:txBody>
          <a:bodyPr/>
          <a:lstStyle/>
          <a:p>
            <a:r>
              <a:rPr lang="it-IT" dirty="0"/>
              <a:t>sicurezza dei dati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4FBF57A0-4213-C9CA-7890-4DD1DC3609E1}"/>
              </a:ext>
            </a:extLst>
          </p:cNvPr>
          <p:cNvSpPr txBox="1"/>
          <p:nvPr/>
        </p:nvSpPr>
        <p:spPr>
          <a:xfrm>
            <a:off x="1144589" y="1406769"/>
            <a:ext cx="9842865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it-IT" dirty="0"/>
              <a:t>La sicurezza dei dati nel sistema è garantita dalla gestione differenziata tra blockchain on-chain e off-chain. Gli identificativi crittografici delle transazioni vengono registrati sulla blockchain on-chain, assicurando immutabilità, non ripudio e verificabilità legale, mentre i dati completi delle operazioni sono conservati off-chain in un registro </a:t>
            </a:r>
            <a:r>
              <a:rPr lang="it-IT" dirty="0" err="1"/>
              <a:t>append-only</a:t>
            </a:r>
            <a:r>
              <a:rPr lang="it-IT" dirty="0"/>
              <a:t>. Questa separazione permette di proteggere le informazioni sensibili da accessi non autorizzati e da modifiche indebite, garantendo l’integrità di ciascuna transazione. L’approccio consente inoltre di verificare in qualsiasi momento la coerenza tra i dati off-chain e le prove on-chain, riducendo il rischio di frodi e fornendo una base affidabile per audit e controlli legali. In questo contesto, la tracciabilità delle operazioni diventa uno strumento essenziale per la consistenza, la resilienza e l’affidabilità dei dati finanziari.</a:t>
            </a:r>
          </a:p>
        </p:txBody>
      </p:sp>
    </p:spTree>
    <p:extLst>
      <p:ext uri="{BB962C8B-B14F-4D97-AF65-F5344CB8AC3E}">
        <p14:creationId xmlns:p14="http://schemas.microsoft.com/office/powerpoint/2010/main" val="38555279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5818707-7BA5-353A-F7B0-5269BDBF9D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4358" y="381000"/>
            <a:ext cx="10860088" cy="946638"/>
          </a:xfrm>
        </p:spPr>
        <p:txBody>
          <a:bodyPr/>
          <a:lstStyle/>
          <a:p>
            <a:r>
              <a:rPr lang="it-IT" dirty="0"/>
              <a:t>Pseudonimizzazione e tutela della riservatezza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9B899ABE-43E6-3197-07B1-C42EEFDFD66F}"/>
              </a:ext>
            </a:extLst>
          </p:cNvPr>
          <p:cNvSpPr txBox="1"/>
          <p:nvPr/>
        </p:nvSpPr>
        <p:spPr>
          <a:xfrm>
            <a:off x="1125415" y="1327638"/>
            <a:ext cx="9952893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it-IT" dirty="0"/>
              <a:t>Per proteggere l’integrità e la sicurezza dei dati, le informazioni complete delle transazioni vengono conservate off-chain, garantendo riservatezza e controllo degli accessi. Sulla blockchain on-chain vengono invece registrati esclusivamente i riferimenti crittografici, costituiti dall’</a:t>
            </a:r>
            <a:r>
              <a:rPr lang="it-IT" dirty="0" err="1"/>
              <a:t>operationHash</a:t>
            </a:r>
            <a:r>
              <a:rPr lang="it-IT" dirty="0"/>
              <a:t> e dalla firma, assicurando la verificabilità, l’immutabilità e l’opponibilità legale delle operazioni. Questo approccio ibrido consente di coniugare sicurezza, tracciabilità e conformità legale, riducendo significativamente il rischio di manomissione o compromissione dei dati sensibili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8AC73729-B1AF-CF2E-5305-BA97C21811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5891070" y="3499038"/>
            <a:ext cx="5657295" cy="3180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7479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DF09329-AD64-AE10-E8CE-DC663DFC4F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3531" y="609600"/>
            <a:ext cx="10053880" cy="568569"/>
          </a:xfrm>
        </p:spPr>
        <p:txBody>
          <a:bodyPr>
            <a:normAutofit fontScale="90000"/>
          </a:bodyPr>
          <a:lstStyle/>
          <a:p>
            <a:r>
              <a:rPr lang="it-IT" dirty="0"/>
              <a:t>Sicurezza della blockchain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62D24D46-D3C2-877D-39E5-29C7ED21EF6B}"/>
              </a:ext>
            </a:extLst>
          </p:cNvPr>
          <p:cNvSpPr txBox="1"/>
          <p:nvPr/>
        </p:nvSpPr>
        <p:spPr>
          <a:xfrm>
            <a:off x="1081454" y="1397977"/>
            <a:ext cx="10462846" cy="20310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it-IT" dirty="0"/>
              <a:t>Nel progetto, la blockchain viene utilizzata come livello di sicurezza e certificazione delle transazioni finanziarie. L’integrità dei dati è garantita dalla struttura immutabile della blockchain e dalla registrazione di riferimenti crittografici verificabili, che rendono impossibili modifiche retroattive non rilevabili. L’inserimento di tali riferimenti all’interno di un registro distribuito consente di attestare in modo oggettivo l’esistenza e l’integrità delle operazioni nel tempo, fornendo una prova digitale affidabile e verificabile, coerente con i requisiti di sicurezza, tracciabilità e opponibilità del progetto.</a:t>
            </a:r>
          </a:p>
        </p:txBody>
      </p:sp>
    </p:spTree>
    <p:extLst>
      <p:ext uri="{BB962C8B-B14F-4D97-AF65-F5344CB8AC3E}">
        <p14:creationId xmlns:p14="http://schemas.microsoft.com/office/powerpoint/2010/main" val="354959603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C02D4DC-6FC9-F2CC-D544-705B511449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09600"/>
            <a:ext cx="9805010" cy="691662"/>
          </a:xfrm>
        </p:spPr>
        <p:txBody>
          <a:bodyPr/>
          <a:lstStyle/>
          <a:p>
            <a:r>
              <a:rPr lang="it-IT" dirty="0"/>
              <a:t>Verifica e validazione dei dati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9FED9791-D9E6-D108-561B-35DC2FE2FCAB}"/>
              </a:ext>
            </a:extLst>
          </p:cNvPr>
          <p:cNvSpPr txBox="1"/>
          <p:nvPr/>
        </p:nvSpPr>
        <p:spPr>
          <a:xfrm>
            <a:off x="1239715" y="1521069"/>
            <a:ext cx="9706708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it-IT" dirty="0"/>
              <a:t>La verifica e la validazione dei dati rappresentano un elemento centrale per garantire l’affidabilità e la sicurezza delle transazioni all’interno del sistema. In fase di inserimento, i dati vengono sottoposti a controlli di validazione che ne verificano struttura, formato e coerenza, riducendo il rischio di errori o informazioni non conformi. Successivamente, la verifica dell’integrità è assicurata tramite l’utilizzo di riferimenti crittografici, che permettono di accertare che i dati non siano stati alterati nel tempo. Questo doppio livello di controllo consente di mantenere coerenza tra dati off-chain e riferimenti registrati on-chain, migliorando l’</a:t>
            </a:r>
            <a:r>
              <a:rPr lang="it-IT" dirty="0" err="1"/>
              <a:t>auditabilità</a:t>
            </a:r>
            <a:r>
              <a:rPr lang="it-IT" dirty="0"/>
              <a:t> del sistema. L’approccio adottato rafforza il valore probatorio delle transazioni, rendendo ogni operazione oggettivamente verificabile e affidabile in contesti tecnici e legali.</a:t>
            </a:r>
          </a:p>
        </p:txBody>
      </p:sp>
    </p:spTree>
    <p:extLst>
      <p:ext uri="{BB962C8B-B14F-4D97-AF65-F5344CB8AC3E}">
        <p14:creationId xmlns:p14="http://schemas.microsoft.com/office/powerpoint/2010/main" val="81712322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A6CEA35-8524-D753-FC2D-0C4A4DB89B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4037" y="281354"/>
            <a:ext cx="9543926" cy="756138"/>
          </a:xfrm>
        </p:spPr>
        <p:txBody>
          <a:bodyPr/>
          <a:lstStyle/>
          <a:p>
            <a:r>
              <a:rPr lang="it-IT" dirty="0"/>
              <a:t>Rischi compromissione dati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23421565-FA49-833A-E45F-DAF7DD4A866E}"/>
              </a:ext>
            </a:extLst>
          </p:cNvPr>
          <p:cNvSpPr txBox="1"/>
          <p:nvPr/>
        </p:nvSpPr>
        <p:spPr>
          <a:xfrm>
            <a:off x="1324037" y="1292469"/>
            <a:ext cx="1009717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it-IT"/>
              <a:t>Le transazioni digitali sono esposte a diversi rischi, tra cui accessi non autorizzati, manomissioni, perdite accidentali o attacchi informatici. Senza adeguate protezioni, i dati delle transazioni, come tipologia, asset, quantità e timestamp, potrebbero essere alterati, cancellati o compromessi, minando trasparenza, integrità e affidabilità del sistema. La comprensione di questi rischi è fondamentale per giustificare l’adozione di un approccio ibrido, che combina registrazione off-chain dei dati completi con riferimenti crittografici on-chain, garantendo sicurezza, tracciabilità e opponibilità legale delle operazioni.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65816460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E627BD2-3016-0350-B279-867A0A520B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0927" y="109313"/>
            <a:ext cx="11290911" cy="1113692"/>
          </a:xfrm>
        </p:spPr>
        <p:txBody>
          <a:bodyPr/>
          <a:lstStyle/>
          <a:p>
            <a:r>
              <a:rPr lang="it-IT" dirty="0"/>
              <a:t>Minacce considerate e contromisure adottate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13E98F63-C3C3-C135-07D8-DB276FBD8E47}"/>
              </a:ext>
            </a:extLst>
          </p:cNvPr>
          <p:cNvSpPr txBox="1"/>
          <p:nvPr/>
        </p:nvSpPr>
        <p:spPr>
          <a:xfrm>
            <a:off x="780927" y="1223005"/>
            <a:ext cx="11290911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it-IT" dirty="0"/>
              <a:t>Nel contesto dello sviluppo di smart </a:t>
            </a:r>
            <a:r>
              <a:rPr lang="it-IT" dirty="0" err="1"/>
              <a:t>contract</a:t>
            </a:r>
            <a:r>
              <a:rPr lang="it-IT" dirty="0"/>
              <a:t> sono state analizzate diverse vulnerabilità note, potenzialmente in grado di compromettere la sicurezza delle operazioni sulla blockchain. Tra queste rientra il rischio di </a:t>
            </a:r>
            <a:r>
              <a:rPr lang="it-IT" b="1" dirty="0" err="1"/>
              <a:t>reentrancy</a:t>
            </a:r>
            <a:r>
              <a:rPr lang="it-IT" dirty="0"/>
              <a:t>, una condizione in cui un contratto esterno può richiamare una funzione prima che lo stato interno venga correttamente aggiornato, causando comportamenti imprevisti. Sono state inoltre considerate le </a:t>
            </a:r>
            <a:r>
              <a:rPr lang="it-IT" b="1" dirty="0"/>
              <a:t>chiamate esterne non sicure</a:t>
            </a:r>
            <a:r>
              <a:rPr lang="it-IT" dirty="0"/>
              <a:t>, che possono esporre il contratto a interazioni malevole se non adeguatamente controllate. Un’ulteriore criticità riguarda la gestione di </a:t>
            </a:r>
            <a:r>
              <a:rPr lang="it-IT" b="1" dirty="0"/>
              <a:t>stati inconsistenti</a:t>
            </a:r>
            <a:r>
              <a:rPr lang="it-IT" dirty="0"/>
              <a:t>, che può verificarsi quando le variabili di stato non vengono aggiornate in modo coerente, generando risultati non deterministici. Infine, un uso improprio delle </a:t>
            </a:r>
            <a:r>
              <a:rPr lang="it-IT" b="1" dirty="0"/>
              <a:t>funzioni </a:t>
            </a:r>
            <a:r>
              <a:rPr lang="it-IT" b="1" dirty="0" err="1"/>
              <a:t>payable</a:t>
            </a:r>
            <a:r>
              <a:rPr lang="it-IT" dirty="0"/>
              <a:t> può consentire trasferimenti di valore non intenzionali o l’attivazione di logiche non previste. L’analisi di queste vulnerabilità ha guidato l’adozione di specifiche contromisure progettuali e pattern di sicurezza, riducendo la superficie di attacco e migliorando l’affidabilità complessiva degli smart </a:t>
            </a:r>
            <a:r>
              <a:rPr lang="it-IT" dirty="0" err="1"/>
              <a:t>contract</a:t>
            </a:r>
            <a:r>
              <a:rPr lang="it-IT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19318672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FDBC83D-7151-94FB-906D-895217ADBB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0438" y="609600"/>
            <a:ext cx="10176973" cy="674077"/>
          </a:xfrm>
        </p:spPr>
        <p:txBody>
          <a:bodyPr/>
          <a:lstStyle/>
          <a:p>
            <a:r>
              <a:rPr lang="it-IT" dirty="0"/>
              <a:t>Best practices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009E27E4-E1E3-A7F6-217F-05246BBB5CD8}"/>
              </a:ext>
            </a:extLst>
          </p:cNvPr>
          <p:cNvSpPr txBox="1"/>
          <p:nvPr/>
        </p:nvSpPr>
        <p:spPr>
          <a:xfrm>
            <a:off x="984738" y="1503485"/>
            <a:ext cx="10062673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it-IT" dirty="0"/>
              <a:t>Per garantire efficacia e sicurezza del sistema è fondamentale adottare best practices come la </a:t>
            </a:r>
            <a:r>
              <a:rPr lang="it-IT" b="1" dirty="0"/>
              <a:t>separazione tra dati sensibili off-chain e riferimenti on-chain</a:t>
            </a:r>
            <a:r>
              <a:rPr lang="it-IT" dirty="0"/>
              <a:t>, l’uso di </a:t>
            </a:r>
            <a:r>
              <a:rPr lang="it-IT" b="1" dirty="0" err="1"/>
              <a:t>hash</a:t>
            </a:r>
            <a:r>
              <a:rPr lang="it-IT" b="1" dirty="0"/>
              <a:t> crittografici e strutture di verifica</a:t>
            </a:r>
            <a:r>
              <a:rPr lang="it-IT" dirty="0"/>
              <a:t> per assicurare integrità e immutabilità, e l’applicazione di </a:t>
            </a:r>
            <a:r>
              <a:rPr lang="it-IT" b="1" dirty="0"/>
              <a:t>controlli di accesso rigorosi</a:t>
            </a:r>
            <a:r>
              <a:rPr lang="it-IT" dirty="0"/>
              <a:t> sui dati finanziari. È inoltre essenziale validare le informazioni prima della registrazione, mantenere log verificabili delle operazioni e progettare il sistema in modo conforme alle normative sulla protezione dei dati, assicurando </a:t>
            </a:r>
            <a:r>
              <a:rPr lang="it-IT" b="1" dirty="0"/>
              <a:t>affidabilità, scalabilità e valore probatorio</a:t>
            </a:r>
            <a:r>
              <a:rPr lang="it-IT" dirty="0"/>
              <a:t> nel tempo.</a:t>
            </a:r>
          </a:p>
        </p:txBody>
      </p:sp>
    </p:spTree>
    <p:extLst>
      <p:ext uri="{BB962C8B-B14F-4D97-AF65-F5344CB8AC3E}">
        <p14:creationId xmlns:p14="http://schemas.microsoft.com/office/powerpoint/2010/main" val="90415030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E5C1183-B7E2-3ABF-6E2A-F1F7E7505E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489" y="126023"/>
            <a:ext cx="11937022" cy="1905000"/>
          </a:xfrm>
        </p:spPr>
        <p:txBody>
          <a:bodyPr/>
          <a:lstStyle/>
          <a:p>
            <a:r>
              <a:rPr lang="it-IT" dirty="0"/>
              <a:t>Sicurezza degli smart </a:t>
            </a:r>
            <a:r>
              <a:rPr lang="it-IT" dirty="0" err="1"/>
              <a:t>contract</a:t>
            </a:r>
            <a:r>
              <a:rPr lang="it-IT" dirty="0"/>
              <a:t> e mitigazione delle vulnerabilità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AAAAFE13-FC4D-D69F-98FF-97DA61B71C44}"/>
              </a:ext>
            </a:extLst>
          </p:cNvPr>
          <p:cNvSpPr txBox="1"/>
          <p:nvPr/>
        </p:nvSpPr>
        <p:spPr>
          <a:xfrm>
            <a:off x="325315" y="2031023"/>
            <a:ext cx="1156188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it-IT" dirty="0"/>
              <a:t>Gli smart </a:t>
            </a:r>
            <a:r>
              <a:rPr lang="it-IT" dirty="0" err="1"/>
              <a:t>contract</a:t>
            </a:r>
            <a:r>
              <a:rPr lang="it-IT" dirty="0"/>
              <a:t> sviluppati in </a:t>
            </a:r>
            <a:r>
              <a:rPr lang="it-IT" dirty="0" err="1"/>
              <a:t>Solidity</a:t>
            </a:r>
            <a:r>
              <a:rPr lang="it-IT" dirty="0"/>
              <a:t> sono esposti a vulnerabilità note, tra cui </a:t>
            </a:r>
            <a:r>
              <a:rPr lang="it-IT" dirty="0" err="1"/>
              <a:t>reentrancy</a:t>
            </a:r>
            <a:r>
              <a:rPr lang="it-IT" dirty="0"/>
              <a:t>, chiamate non sicure e stati inconsistenti. Per ridurre tali rischi, il progetto adotta specifici design pattern di sicurezza. Il pattern </a:t>
            </a:r>
            <a:r>
              <a:rPr lang="it-IT" b="1" dirty="0"/>
              <a:t>Check-</a:t>
            </a:r>
            <a:r>
              <a:rPr lang="it-IT" b="1" dirty="0" err="1"/>
              <a:t>Effects</a:t>
            </a:r>
            <a:r>
              <a:rPr lang="it-IT" b="1" dirty="0"/>
              <a:t>-Interactions</a:t>
            </a:r>
            <a:r>
              <a:rPr lang="it-IT" dirty="0"/>
              <a:t> viene utilizzato per garantire il corretto ordine delle operazioni, prevenendo attacchi di tipo </a:t>
            </a:r>
            <a:r>
              <a:rPr lang="it-IT" dirty="0" err="1"/>
              <a:t>reentrancy</a:t>
            </a:r>
            <a:r>
              <a:rPr lang="it-IT" dirty="0"/>
              <a:t>. Il </a:t>
            </a:r>
            <a:r>
              <a:rPr lang="it-IT" b="1" dirty="0"/>
              <a:t>Guard Check</a:t>
            </a:r>
            <a:r>
              <a:rPr lang="it-IT" dirty="0"/>
              <a:t> assicura che tutte le condizioni di validità siano verificate prima dell’esecuzione delle funzioni, evitando operazioni non autorizzate o incoerenti. Infine, il </a:t>
            </a:r>
            <a:r>
              <a:rPr lang="it-IT" b="1" dirty="0"/>
              <a:t>Secure </a:t>
            </a:r>
            <a:r>
              <a:rPr lang="it-IT" b="1" dirty="0" err="1"/>
              <a:t>Ether</a:t>
            </a:r>
            <a:r>
              <a:rPr lang="it-IT" b="1" dirty="0"/>
              <a:t> Transfer </a:t>
            </a:r>
            <a:r>
              <a:rPr lang="it-IT" dirty="0"/>
              <a:t>limita il consumo di gas durante i trasferimenti, riducendo il rischio di chiamate ricorsive e comportamenti imprevisti.</a:t>
            </a:r>
          </a:p>
        </p:txBody>
      </p:sp>
    </p:spTree>
    <p:extLst>
      <p:ext uri="{BB962C8B-B14F-4D97-AF65-F5344CB8AC3E}">
        <p14:creationId xmlns:p14="http://schemas.microsoft.com/office/powerpoint/2010/main" val="376753893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E674882-5BE4-DF65-A06A-97B044E5E4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7981" y="319454"/>
            <a:ext cx="10559562" cy="1016977"/>
          </a:xfrm>
        </p:spPr>
        <p:txBody>
          <a:bodyPr/>
          <a:lstStyle/>
          <a:p>
            <a:r>
              <a:rPr lang="it-IT" dirty="0"/>
              <a:t>Requisiti di sicurezza e gestione degli errori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E587189A-17CC-AEC3-9C27-DAB78730EF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7981" y="1336431"/>
            <a:ext cx="10559562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it-IT" dirty="0"/>
              <a:t>Il progetto definisce requisiti chiari per garantire </a:t>
            </a:r>
            <a:r>
              <a:rPr lang="it-IT" b="1" dirty="0"/>
              <a:t>integrità e verificabilità</a:t>
            </a:r>
            <a:r>
              <a:rPr lang="it-IT" dirty="0"/>
              <a:t> delle transazioni finanziarie digitali. L’integrità viene assicurata tramite controlli crittografici sull’</a:t>
            </a:r>
            <a:r>
              <a:rPr lang="it-IT" dirty="0" err="1"/>
              <a:t>hash</a:t>
            </a:r>
            <a:r>
              <a:rPr lang="it-IT" dirty="0"/>
              <a:t> e sulla firma, che impediscono modifiche retroattive dei dati. La verificabilità permette di ricostruire ogni transazione e di confermarne l’autenticità, facilitando audit e controlli legali. Sono inoltre previste strategie per la gestione degli </a:t>
            </a:r>
            <a:r>
              <a:rPr lang="it-IT" b="1" dirty="0"/>
              <a:t>input non validi</a:t>
            </a:r>
            <a:r>
              <a:rPr lang="it-IT" dirty="0"/>
              <a:t>, evitando che dati incompleti, malformati o inconsistenti compromettano il sistema. Analogamente, il progetto contempla meccanismi di gestione dei </a:t>
            </a:r>
            <a:r>
              <a:rPr lang="it-IT" b="1" dirty="0"/>
              <a:t>fallimenti di firma o </a:t>
            </a:r>
            <a:r>
              <a:rPr lang="it-IT" b="1" dirty="0" err="1"/>
              <a:t>hash</a:t>
            </a:r>
            <a:r>
              <a:rPr lang="it-IT" dirty="0"/>
              <a:t>, garantendo che eventuali errori crittografici non interrompano il flusso operativo. Infine, viene monitorata la </a:t>
            </a:r>
            <a:r>
              <a:rPr lang="it-IT" b="1" dirty="0"/>
              <a:t>coerenza delle transazioni</a:t>
            </a:r>
            <a:r>
              <a:rPr lang="it-IT" dirty="0"/>
              <a:t>, rilevando e prevenendo inserimenti duplicati o contraddittori, così da assicurare che il registro digitale rimanga affidabile e opponibile in contesto legale.</a:t>
            </a:r>
          </a:p>
        </p:txBody>
      </p:sp>
    </p:spTree>
    <p:extLst>
      <p:ext uri="{BB962C8B-B14F-4D97-AF65-F5344CB8AC3E}">
        <p14:creationId xmlns:p14="http://schemas.microsoft.com/office/powerpoint/2010/main" val="278605726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F4E2904-57C4-4577-3E96-AA2A5C4898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8508" y="196361"/>
            <a:ext cx="10156702" cy="805962"/>
          </a:xfrm>
        </p:spPr>
        <p:txBody>
          <a:bodyPr/>
          <a:lstStyle/>
          <a:p>
            <a:r>
              <a:rPr lang="it-IT" dirty="0" err="1"/>
              <a:t>Misuse</a:t>
            </a:r>
            <a:r>
              <a:rPr lang="it-IT" dirty="0"/>
              <a:t> </a:t>
            </a:r>
            <a:r>
              <a:rPr lang="it-IT" dirty="0" err="1"/>
              <a:t>diagrams</a:t>
            </a:r>
            <a:endParaRPr lang="it-IT" dirty="0"/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2548EBD3-76CF-1D41-6D27-6DEDEF72AA0A}"/>
              </a:ext>
            </a:extLst>
          </p:cNvPr>
          <p:cNvSpPr txBox="1"/>
          <p:nvPr/>
        </p:nvSpPr>
        <p:spPr>
          <a:xfrm>
            <a:off x="419100" y="1002323"/>
            <a:ext cx="10524392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it-IT" dirty="0"/>
              <a:t>Il sistema è progettato per prevenire rischi che potrebbero compromettere l’affidabilità dei dati finanziari registrati. Tra questi vi è l’</a:t>
            </a:r>
            <a:r>
              <a:rPr lang="it-IT" b="1" dirty="0"/>
              <a:t>inserimento di dati alterati</a:t>
            </a:r>
            <a:r>
              <a:rPr lang="it-IT" dirty="0"/>
              <a:t>, che può verificarsi se informazioni non corrette o manipolate vengono sottoposte al processo di registrazione. Viene inoltre considerato il rischio di </a:t>
            </a:r>
            <a:r>
              <a:rPr lang="it-IT" b="1" dirty="0"/>
              <a:t>modifica post-registrazione</a:t>
            </a:r>
            <a:r>
              <a:rPr lang="it-IT" dirty="0"/>
              <a:t>, cioè tentativi di alterare una transazione già archiviata, che la blockchain impedisce grazie alla natura immutabile dei blocchi e al collegamento crittografico dei dati. Infine, il progetto contempla situazioni in cui la </a:t>
            </a:r>
            <a:r>
              <a:rPr lang="it-IT" b="1" dirty="0"/>
              <a:t>firma associata all’operazione sia assente o non valida</a:t>
            </a:r>
            <a:r>
              <a:rPr lang="it-IT" dirty="0"/>
              <a:t>, garantendo che solo transazioni correttamente firmate tramite il </a:t>
            </a:r>
            <a:r>
              <a:rPr lang="it-IT" dirty="0" err="1"/>
              <a:t>TrustedSigner</a:t>
            </a:r>
            <a:r>
              <a:rPr lang="it-IT" dirty="0"/>
              <a:t> siano accettate e registrate. Questi controlli congiunti assicurano che ogni operazione rimanga sicura, verificabile e opponibile legalmente, riducendo drasticamente la possibilità di frodi o contestazioni.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2C4A0D97-30C2-362E-F72D-33DC6B5EBB2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499" t="3581" r="2026" b="6488"/>
          <a:stretch>
            <a:fillRect/>
          </a:stretch>
        </p:blipFill>
        <p:spPr>
          <a:xfrm>
            <a:off x="7038347" y="3864645"/>
            <a:ext cx="4637839" cy="2943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285365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0755B4E-D897-874C-51BC-CC76F529DC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177" y="134816"/>
            <a:ext cx="10753237" cy="876300"/>
          </a:xfrm>
        </p:spPr>
        <p:txBody>
          <a:bodyPr>
            <a:normAutofit fontScale="90000"/>
          </a:bodyPr>
          <a:lstStyle/>
          <a:p>
            <a:r>
              <a:rPr lang="it-IT" dirty="0" err="1"/>
              <a:t>Misuse</a:t>
            </a:r>
            <a:r>
              <a:rPr lang="it-IT" dirty="0"/>
              <a:t> Case: Minacce all’integrità e all’autenticità delle transazioni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FE42884F-2B72-2414-BC01-B218CF7D5CD6}"/>
              </a:ext>
            </a:extLst>
          </p:cNvPr>
          <p:cNvSpPr txBox="1"/>
          <p:nvPr/>
        </p:nvSpPr>
        <p:spPr>
          <a:xfrm>
            <a:off x="1195509" y="1230923"/>
            <a:ext cx="102432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it-IT" dirty="0"/>
          </a:p>
        </p:txBody>
      </p:sp>
      <p:graphicFrame>
        <p:nvGraphicFramePr>
          <p:cNvPr id="7" name="Tabella 6">
            <a:extLst>
              <a:ext uri="{FF2B5EF4-FFF2-40B4-BE49-F238E27FC236}">
                <a16:creationId xmlns:a16="http://schemas.microsoft.com/office/drawing/2014/main" id="{C1E3CF79-FA1D-2DAF-3D6C-0DBE6B1EAC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0860107"/>
              </p:ext>
            </p:extLst>
          </p:nvPr>
        </p:nvGraphicFramePr>
        <p:xfrm>
          <a:off x="6543796" y="1230923"/>
          <a:ext cx="5255482" cy="538236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310058">
                  <a:extLst>
                    <a:ext uri="{9D8B030D-6E8A-4147-A177-3AD203B41FA5}">
                      <a16:colId xmlns:a16="http://schemas.microsoft.com/office/drawing/2014/main" val="1333195226"/>
                    </a:ext>
                  </a:extLst>
                </a:gridCol>
                <a:gridCol w="2945424">
                  <a:extLst>
                    <a:ext uri="{9D8B030D-6E8A-4147-A177-3AD203B41FA5}">
                      <a16:colId xmlns:a16="http://schemas.microsoft.com/office/drawing/2014/main" val="3689400000"/>
                    </a:ext>
                  </a:extLst>
                </a:gridCol>
              </a:tblGrid>
              <a:tr h="598040">
                <a:tc gridSpan="2">
                  <a:txBody>
                    <a:bodyPr/>
                    <a:lstStyle/>
                    <a:p>
                      <a:r>
                        <a:rPr lang="it-IT" sz="1400" dirty="0"/>
                        <a:t>Firma non valida o assente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it-IT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6562715"/>
                  </a:ext>
                </a:extLst>
              </a:tr>
              <a:tr h="5980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1400" b="1" dirty="0"/>
                        <a:t>Elemento</a:t>
                      </a:r>
                      <a:endParaRPr lang="it-IT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1400" b="1"/>
                        <a:t>Descrizione</a:t>
                      </a:r>
                      <a:endParaRPr lang="it-IT" sz="14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32800580"/>
                  </a:ext>
                </a:extLst>
              </a:tr>
              <a:tr h="5980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1400"/>
                        <a:t>Attore malevolo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1400"/>
                        <a:t>Attaccante tecnico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3097520"/>
                  </a:ext>
                </a:extLst>
              </a:tr>
              <a:tr h="5980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1400"/>
                        <a:t>Misuse case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1400"/>
                        <a:t>Invio di una firma non valida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44511308"/>
                  </a:ext>
                </a:extLst>
              </a:tr>
              <a:tr h="5980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1400"/>
                        <a:t>Obiettivo dell’attacco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1400"/>
                        <a:t>Inserire transazioni non autorizzate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82183352"/>
                  </a:ext>
                </a:extLst>
              </a:tr>
              <a:tr h="5980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1400"/>
                        <a:t>Componente colpito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1400"/>
                        <a:t>Smart contract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98645588"/>
                  </a:ext>
                </a:extLst>
              </a:tr>
              <a:tr h="5980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1400"/>
                        <a:t>Impatto potenziale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1400"/>
                        <a:t>Registrazione di operazioni fraudolente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47305504"/>
                  </a:ext>
                </a:extLst>
              </a:tr>
              <a:tr h="5980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1400"/>
                        <a:t>Contromisura adottata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1400"/>
                        <a:t>Verifica firma del TrustedSigner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47549609"/>
                  </a:ext>
                </a:extLst>
              </a:tr>
              <a:tr h="5980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1400"/>
                        <a:t>Esito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1400" dirty="0"/>
                        <a:t>Chiamata fallita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87360115"/>
                  </a:ext>
                </a:extLst>
              </a:tr>
            </a:tbl>
          </a:graphicData>
        </a:graphic>
      </p:graphicFrame>
      <p:graphicFrame>
        <p:nvGraphicFramePr>
          <p:cNvPr id="10" name="Tabella 9">
            <a:extLst>
              <a:ext uri="{FF2B5EF4-FFF2-40B4-BE49-F238E27FC236}">
                <a16:creationId xmlns:a16="http://schemas.microsoft.com/office/drawing/2014/main" id="{699D9CA8-3F51-C49E-6624-5E0F83DB83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2752948"/>
              </p:ext>
            </p:extLst>
          </p:nvPr>
        </p:nvGraphicFramePr>
        <p:xfrm>
          <a:off x="1195509" y="1230923"/>
          <a:ext cx="4992442" cy="539261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208273">
                  <a:extLst>
                    <a:ext uri="{9D8B030D-6E8A-4147-A177-3AD203B41FA5}">
                      <a16:colId xmlns:a16="http://schemas.microsoft.com/office/drawing/2014/main" val="1333195226"/>
                    </a:ext>
                  </a:extLst>
                </a:gridCol>
                <a:gridCol w="2784169">
                  <a:extLst>
                    <a:ext uri="{9D8B030D-6E8A-4147-A177-3AD203B41FA5}">
                      <a16:colId xmlns:a16="http://schemas.microsoft.com/office/drawing/2014/main" val="3689400000"/>
                    </a:ext>
                  </a:extLst>
                </a:gridCol>
              </a:tblGrid>
              <a:tr h="392432">
                <a:tc gridSpan="2">
                  <a:txBody>
                    <a:bodyPr/>
                    <a:lstStyle/>
                    <a:p>
                      <a:r>
                        <a:rPr lang="it-IT" sz="1400" dirty="0"/>
                        <a:t>Inserimento Dati Alterati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it-IT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6562715"/>
                  </a:ext>
                </a:extLst>
              </a:tr>
              <a:tr h="3924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1400" b="1" dirty="0"/>
                        <a:t>Elemento</a:t>
                      </a:r>
                      <a:endParaRPr lang="it-IT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1400" b="1"/>
                        <a:t>Descrizione</a:t>
                      </a:r>
                      <a:endParaRPr lang="it-IT" sz="14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32800580"/>
                  </a:ext>
                </a:extLst>
              </a:tr>
              <a:tr h="44452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1400" dirty="0"/>
                        <a:t>Attore malevolo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1400"/>
                        <a:t>Attaccante tecnico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3097520"/>
                  </a:ext>
                </a:extLst>
              </a:tr>
              <a:tr h="7657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1400" dirty="0" err="1"/>
                        <a:t>Misuse</a:t>
                      </a:r>
                      <a:r>
                        <a:rPr lang="it-IT" sz="1400" dirty="0"/>
                        <a:t> case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1400"/>
                        <a:t>Inserimento di un operationHash non coerente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44511308"/>
                  </a:ext>
                </a:extLst>
              </a:tr>
              <a:tr h="7657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1400" dirty="0"/>
                        <a:t>Obiettivo dell’attacco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1400"/>
                        <a:t>Certificare dati alterati sulla blockchain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82183352"/>
                  </a:ext>
                </a:extLst>
              </a:tr>
              <a:tr h="5360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1400"/>
                        <a:t>Componente colpito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1400"/>
                        <a:t>Smart contract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98645588"/>
                  </a:ext>
                </a:extLst>
              </a:tr>
              <a:tr h="8255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1400"/>
                        <a:t>Impatto potenziale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1400"/>
                        <a:t>Perdita di coerenza tra dati on-chain e off-chain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47305504"/>
                  </a:ext>
                </a:extLst>
              </a:tr>
              <a:tr h="8255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1400"/>
                        <a:t>Contromisura adottata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1400"/>
                        <a:t>Verifica crittografica dell’operationHash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47549609"/>
                  </a:ext>
                </a:extLst>
              </a:tr>
              <a:tr h="44452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1400"/>
                        <a:t>Esito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1400" dirty="0"/>
                        <a:t>Transazione rifiutata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873601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4045835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E7C8708-C75C-5B87-8630-D1CB49E366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5904" y="240323"/>
            <a:ext cx="10411679" cy="981808"/>
          </a:xfrm>
        </p:spPr>
        <p:txBody>
          <a:bodyPr>
            <a:normAutofit fontScale="90000"/>
          </a:bodyPr>
          <a:lstStyle/>
          <a:p>
            <a:r>
              <a:rPr lang="it-IT" dirty="0" err="1"/>
              <a:t>Misuse</a:t>
            </a:r>
            <a:r>
              <a:rPr lang="it-IT" dirty="0"/>
              <a:t> Case: Violazione dell’immutabilità e della coerenza dei dati</a:t>
            </a:r>
          </a:p>
        </p:txBody>
      </p:sp>
      <p:graphicFrame>
        <p:nvGraphicFramePr>
          <p:cNvPr id="3" name="Tabella 2">
            <a:extLst>
              <a:ext uri="{FF2B5EF4-FFF2-40B4-BE49-F238E27FC236}">
                <a16:creationId xmlns:a16="http://schemas.microsoft.com/office/drawing/2014/main" id="{6DAF5112-7DA8-4780-50E1-9CCAE06158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4288027"/>
              </p:ext>
            </p:extLst>
          </p:nvPr>
        </p:nvGraphicFramePr>
        <p:xfrm>
          <a:off x="1035904" y="1582615"/>
          <a:ext cx="4576644" cy="50350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8322">
                  <a:extLst>
                    <a:ext uri="{9D8B030D-6E8A-4147-A177-3AD203B41FA5}">
                      <a16:colId xmlns:a16="http://schemas.microsoft.com/office/drawing/2014/main" val="4277387160"/>
                    </a:ext>
                  </a:extLst>
                </a:gridCol>
                <a:gridCol w="2288322">
                  <a:extLst>
                    <a:ext uri="{9D8B030D-6E8A-4147-A177-3AD203B41FA5}">
                      <a16:colId xmlns:a16="http://schemas.microsoft.com/office/drawing/2014/main" val="3620971937"/>
                    </a:ext>
                  </a:extLst>
                </a:gridCol>
              </a:tblGrid>
              <a:tr h="492205">
                <a:tc gridSpan="2">
                  <a:txBody>
                    <a:bodyPr/>
                    <a:lstStyle/>
                    <a:p>
                      <a:r>
                        <a:rPr lang="it-IT" sz="1400" dirty="0"/>
                        <a:t>Modifica post registrazione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it-IT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4138564"/>
                  </a:ext>
                </a:extLst>
              </a:tr>
              <a:tr h="4922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1400" b="1"/>
                        <a:t>Elemento</a:t>
                      </a:r>
                      <a:endParaRPr lang="it-IT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1400" b="1"/>
                        <a:t>Descrizione</a:t>
                      </a:r>
                      <a:endParaRPr lang="it-IT" sz="14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59818420"/>
                  </a:ext>
                </a:extLst>
              </a:tr>
              <a:tr h="4922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1400"/>
                        <a:t>Attore malevolo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1400"/>
                        <a:t>Attaccante tecnico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72945418"/>
                  </a:ext>
                </a:extLst>
              </a:tr>
              <a:tr h="8236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1400"/>
                        <a:t>Misuse case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1400"/>
                        <a:t>Tentativo di modifica di una transazione registrata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7246828"/>
                  </a:ext>
                </a:extLst>
              </a:tr>
              <a:tr h="58344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1400"/>
                        <a:t>Obiettivo dell’attacco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1400" dirty="0"/>
                        <a:t>Alterare lo storico delle operazioni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16785821"/>
                  </a:ext>
                </a:extLst>
              </a:tr>
              <a:tr h="4922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1400"/>
                        <a:t>Componente colpito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1400"/>
                        <a:t>Blockchain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70288427"/>
                  </a:ext>
                </a:extLst>
              </a:tr>
              <a:tr h="58344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1400"/>
                        <a:t>Impatto potenziale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1400"/>
                        <a:t>Compromissione dell’integrità dei dati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28518064"/>
                  </a:ext>
                </a:extLst>
              </a:tr>
              <a:tr h="58344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1400"/>
                        <a:t>Contromisura adottata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1400"/>
                        <a:t>Immutabilità della blockchain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10565373"/>
                  </a:ext>
                </a:extLst>
              </a:tr>
              <a:tr h="4922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1400"/>
                        <a:t>Esito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1400" dirty="0"/>
                        <a:t>Modifica impossibile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43776755"/>
                  </a:ext>
                </a:extLst>
              </a:tr>
            </a:tbl>
          </a:graphicData>
        </a:graphic>
      </p:graphicFrame>
      <p:graphicFrame>
        <p:nvGraphicFramePr>
          <p:cNvPr id="4" name="Tabella 3">
            <a:extLst>
              <a:ext uri="{FF2B5EF4-FFF2-40B4-BE49-F238E27FC236}">
                <a16:creationId xmlns:a16="http://schemas.microsoft.com/office/drawing/2014/main" id="{198CAC4A-E827-3882-0BC8-260C4C24D0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4685829"/>
              </p:ext>
            </p:extLst>
          </p:nvPr>
        </p:nvGraphicFramePr>
        <p:xfrm>
          <a:off x="6579452" y="1582609"/>
          <a:ext cx="4576644" cy="50350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8322">
                  <a:extLst>
                    <a:ext uri="{9D8B030D-6E8A-4147-A177-3AD203B41FA5}">
                      <a16:colId xmlns:a16="http://schemas.microsoft.com/office/drawing/2014/main" val="1715273620"/>
                    </a:ext>
                  </a:extLst>
                </a:gridCol>
                <a:gridCol w="2288322">
                  <a:extLst>
                    <a:ext uri="{9D8B030D-6E8A-4147-A177-3AD203B41FA5}">
                      <a16:colId xmlns:a16="http://schemas.microsoft.com/office/drawing/2014/main" val="749814970"/>
                    </a:ext>
                  </a:extLst>
                </a:gridCol>
              </a:tblGrid>
              <a:tr h="559452">
                <a:tc gridSpan="2">
                  <a:txBody>
                    <a:bodyPr/>
                    <a:lstStyle/>
                    <a:p>
                      <a:r>
                        <a:rPr lang="it-IT" sz="1400" dirty="0"/>
                        <a:t>Replay di Transazioni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it-IT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2976832"/>
                  </a:ext>
                </a:extLst>
              </a:tr>
              <a:tr h="5594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1400" b="1"/>
                        <a:t>Elemento</a:t>
                      </a:r>
                      <a:endParaRPr lang="it-IT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1400" b="1"/>
                        <a:t>Descrizione</a:t>
                      </a:r>
                      <a:endParaRPr lang="it-IT" sz="14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7081140"/>
                  </a:ext>
                </a:extLst>
              </a:tr>
              <a:tr h="5594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1400"/>
                        <a:t>Attore malevolo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1400"/>
                        <a:t>Attaccante tecnico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48759889"/>
                  </a:ext>
                </a:extLst>
              </a:tr>
              <a:tr h="5594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1400"/>
                        <a:t>Misuse case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1400"/>
                        <a:t>Reinserimento dello stesso operationHash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45456884"/>
                  </a:ext>
                </a:extLst>
              </a:tr>
              <a:tr h="5594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1400"/>
                        <a:t>Obiettivo dell’attacco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1400"/>
                        <a:t>Duplicare operazioni registrate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21355061"/>
                  </a:ext>
                </a:extLst>
              </a:tr>
              <a:tr h="5594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1400"/>
                        <a:t>Componente colpito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1400"/>
                        <a:t>Smart contract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88770521"/>
                  </a:ext>
                </a:extLst>
              </a:tr>
              <a:tr h="5594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1400"/>
                        <a:t>Impatto potenziale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1400"/>
                        <a:t>Distorsione dello storico transazioni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65736497"/>
                  </a:ext>
                </a:extLst>
              </a:tr>
              <a:tr h="5594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1400"/>
                        <a:t>Contromisura adottata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1400"/>
                        <a:t>Controllo unicità dell’operationHash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52264738"/>
                  </a:ext>
                </a:extLst>
              </a:tr>
              <a:tr h="5594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1400"/>
                        <a:t>Esito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1400" dirty="0"/>
                        <a:t>Transazione bloccata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397751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8603875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9FEE369-8F3B-F385-B6BE-224F658AD8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3915" y="158262"/>
            <a:ext cx="11500339" cy="861646"/>
          </a:xfrm>
        </p:spPr>
        <p:txBody>
          <a:bodyPr>
            <a:normAutofit/>
          </a:bodyPr>
          <a:lstStyle/>
          <a:p>
            <a:r>
              <a:rPr lang="it-IT" dirty="0" err="1"/>
              <a:t>Misuse</a:t>
            </a:r>
            <a:r>
              <a:rPr lang="it-IT" dirty="0"/>
              <a:t> Case: Attacchi all’architettura applicativa</a:t>
            </a:r>
          </a:p>
        </p:txBody>
      </p:sp>
      <p:graphicFrame>
        <p:nvGraphicFramePr>
          <p:cNvPr id="3" name="Tabella 2">
            <a:extLst>
              <a:ext uri="{FF2B5EF4-FFF2-40B4-BE49-F238E27FC236}">
                <a16:creationId xmlns:a16="http://schemas.microsoft.com/office/drawing/2014/main" id="{1C9026A5-C231-4C68-A9E2-6A17D7AF8D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8213158"/>
              </p:ext>
            </p:extLst>
          </p:nvPr>
        </p:nvGraphicFramePr>
        <p:xfrm>
          <a:off x="3807678" y="1318846"/>
          <a:ext cx="4576644" cy="50350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8322">
                  <a:extLst>
                    <a:ext uri="{9D8B030D-6E8A-4147-A177-3AD203B41FA5}">
                      <a16:colId xmlns:a16="http://schemas.microsoft.com/office/drawing/2014/main" val="1796069741"/>
                    </a:ext>
                  </a:extLst>
                </a:gridCol>
                <a:gridCol w="2288322">
                  <a:extLst>
                    <a:ext uri="{9D8B030D-6E8A-4147-A177-3AD203B41FA5}">
                      <a16:colId xmlns:a16="http://schemas.microsoft.com/office/drawing/2014/main" val="2414156242"/>
                    </a:ext>
                  </a:extLst>
                </a:gridCol>
              </a:tblGrid>
              <a:tr h="492205">
                <a:tc gridSpan="2">
                  <a:txBody>
                    <a:bodyPr/>
                    <a:lstStyle/>
                    <a:p>
                      <a:pPr algn="l"/>
                      <a:r>
                        <a:rPr lang="it-IT" sz="1400" dirty="0"/>
                        <a:t>Bypass dall’interfaccia Web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it-IT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92230839"/>
                  </a:ext>
                </a:extLst>
              </a:tr>
              <a:tr h="49220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it-IT" sz="1400" b="1"/>
                        <a:t>Elemento</a:t>
                      </a:r>
                      <a:endParaRPr lang="it-IT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it-IT" sz="1400" b="1"/>
                        <a:t>Descrizione</a:t>
                      </a:r>
                      <a:endParaRPr lang="it-IT" sz="14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69062920"/>
                  </a:ext>
                </a:extLst>
              </a:tr>
              <a:tr h="49220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it-IT" sz="1400"/>
                        <a:t>Attore malevolo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it-IT" sz="1400"/>
                        <a:t>Attaccante tecnico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14645854"/>
                  </a:ext>
                </a:extLst>
              </a:tr>
              <a:tr h="82369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it-IT" sz="1400"/>
                        <a:t>Misuse case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it-IT" sz="1400"/>
                        <a:t>Chiamata diretta al contratto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8297168"/>
                  </a:ext>
                </a:extLst>
              </a:tr>
              <a:tr h="58344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it-IT" sz="1400"/>
                        <a:t>Obiettivo dell’attacco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it-IT" sz="1400"/>
                        <a:t>Saltare i controlli applicativi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36823971"/>
                  </a:ext>
                </a:extLst>
              </a:tr>
              <a:tr h="49220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it-IT" sz="1400"/>
                        <a:t>Componente colpito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it-IT" sz="1400"/>
                        <a:t>Smart contract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60654115"/>
                  </a:ext>
                </a:extLst>
              </a:tr>
              <a:tr h="58344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it-IT" sz="1400"/>
                        <a:t>Impatto potenziale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it-IT" sz="1400"/>
                        <a:t>Inserimento dati non validi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00997173"/>
                  </a:ext>
                </a:extLst>
              </a:tr>
              <a:tr h="58344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it-IT" sz="1400"/>
                        <a:t>Contromisura adottata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it-IT" sz="1400"/>
                        <a:t>Guard check nei metodi Solidity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27151866"/>
                  </a:ext>
                </a:extLst>
              </a:tr>
              <a:tr h="49220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it-IT" sz="1400"/>
                        <a:t>Esito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it-IT" sz="1400" dirty="0"/>
                        <a:t>Chiamata fallita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471352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7391132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F88B286-B88F-84F1-1FD7-C0BC691E2B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779585"/>
          </a:xfrm>
        </p:spPr>
        <p:txBody>
          <a:bodyPr/>
          <a:lstStyle/>
          <a:p>
            <a:r>
              <a:rPr lang="it-IT" dirty="0"/>
              <a:t>sommario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720FE47D-B7B7-9D5F-53C0-147149DEED54}"/>
              </a:ext>
            </a:extLst>
          </p:cNvPr>
          <p:cNvSpPr txBox="1"/>
          <p:nvPr/>
        </p:nvSpPr>
        <p:spPr>
          <a:xfrm>
            <a:off x="1141413" y="1623454"/>
            <a:ext cx="9725879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it-IT" dirty="0"/>
              <a:t>Il progetto ha analizzato l’utilizzo della blockchain come strumento per garantire </a:t>
            </a:r>
            <a:r>
              <a:rPr lang="it-IT" b="1" dirty="0"/>
              <a:t>sicurezza, tracciabilità e integrità</a:t>
            </a:r>
            <a:r>
              <a:rPr lang="it-IT" dirty="0"/>
              <a:t> delle transazioni finanziarie digitali. Attraverso un’architettura ibrida on-chain/off-chain, è stato possibile registrare i dati delle transazioni in modo verificabile e immutabile, preservando al contempo la riservatezza delle informazioni sensibili. L’approccio adottato riduce il rischio di falsificazioni, facilita le attività di audit e fornisce un solido supporto probatorio in ambito legale. Il lavoro evidenzia come la blockchain, se integrata correttamente, rappresenti una soluzione concreta e scalabile per la gestione sicura delle transazioni nel contesto della finanza digitale e del Web 3.0.</a:t>
            </a:r>
          </a:p>
        </p:txBody>
      </p:sp>
    </p:spTree>
    <p:extLst>
      <p:ext uri="{BB962C8B-B14F-4D97-AF65-F5344CB8AC3E}">
        <p14:creationId xmlns:p14="http://schemas.microsoft.com/office/powerpoint/2010/main" val="313209767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Rete">
  <a:themeElements>
    <a:clrScheme name="Mesh">
      <a:dk1>
        <a:sysClr val="windowText" lastClr="000000"/>
      </a:dk1>
      <a:lt1>
        <a:sysClr val="window" lastClr="FFFFFF"/>
      </a:lt1>
      <a:dk2>
        <a:srgbClr val="363D46"/>
      </a:dk2>
      <a:lt2>
        <a:srgbClr val="EBEBEB"/>
      </a:lt2>
      <a:accent1>
        <a:srgbClr val="6F6F6F"/>
      </a:accent1>
      <a:accent2>
        <a:srgbClr val="BFBFA5"/>
      </a:accent2>
      <a:accent3>
        <a:srgbClr val="DCD084"/>
      </a:accent3>
      <a:accent4>
        <a:srgbClr val="E7BF5F"/>
      </a:accent4>
      <a:accent5>
        <a:srgbClr val="E9A039"/>
      </a:accent5>
      <a:accent6>
        <a:srgbClr val="CF7133"/>
      </a:accent6>
      <a:hlink>
        <a:srgbClr val="F28943"/>
      </a:hlink>
      <a:folHlink>
        <a:srgbClr val="F1B76C"/>
      </a:folHlink>
    </a:clrScheme>
    <a:fontScheme name="Mesh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Mesh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84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50800" dist="25400" dir="13500000">
              <a:srgbClr val="000000">
                <a:alpha val="5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25400" h="25400" prst="slop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28000"/>
                <a:satMod val="94000"/>
                <a:lumMod val="20000"/>
              </a:schemeClr>
              <a:schemeClr val="phClr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sh" id="{789EC3FE-34FD-429C-9918-760025E6C145}" vid="{B8BE45C0-8141-4D58-8C71-A009BC26FBBB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{72B0E53F-17AA-4E49-8C04-F8D1128D743A}TF5e103eea-be93-4576-ae9c-3ecc0de701e7a43c7e1c-3bd0126a86a4</Template>
  <TotalTime>994</TotalTime>
  <Words>2898</Words>
  <Application>Microsoft Office PowerPoint</Application>
  <PresentationFormat>Widescreen</PresentationFormat>
  <Paragraphs>138</Paragraphs>
  <Slides>27</Slides>
  <Notes>1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27</vt:i4>
      </vt:variant>
    </vt:vector>
  </HeadingPairs>
  <TitlesOfParts>
    <vt:vector size="31" baseType="lpstr">
      <vt:lpstr>Arial</vt:lpstr>
      <vt:lpstr>Calibri</vt:lpstr>
      <vt:lpstr>Century Gothic</vt:lpstr>
      <vt:lpstr>Rete</vt:lpstr>
      <vt:lpstr>Transazioni finanziarie in blockchain</vt:lpstr>
      <vt:lpstr>ABstract</vt:lpstr>
      <vt:lpstr>Obiettivi del progetto</vt:lpstr>
      <vt:lpstr>Contesto applicativo e problema affrontato</vt:lpstr>
      <vt:lpstr>Case study</vt:lpstr>
      <vt:lpstr>Vantaggi e sicurezza della soluzione blockchain</vt:lpstr>
      <vt:lpstr>Tipologia di blockchain adottata</vt:lpstr>
      <vt:lpstr>Tecnologie usate</vt:lpstr>
      <vt:lpstr>Struttura del progetto</vt:lpstr>
      <vt:lpstr>Dati presenti nella transazione</vt:lpstr>
      <vt:lpstr>Applicazione del progetto</vt:lpstr>
      <vt:lpstr>Inserimento sicuro dei dati</vt:lpstr>
      <vt:lpstr>Modalità di inserimento in blockchain</vt:lpstr>
      <vt:lpstr>sicurezza dei dati</vt:lpstr>
      <vt:lpstr>Pseudonimizzazione e tutela della riservatezza</vt:lpstr>
      <vt:lpstr>Sicurezza della blockchain</vt:lpstr>
      <vt:lpstr>Verifica e validazione dei dati</vt:lpstr>
      <vt:lpstr>Rischi compromissione dati</vt:lpstr>
      <vt:lpstr>Minacce considerate e contromisure adottate</vt:lpstr>
      <vt:lpstr>Best practices</vt:lpstr>
      <vt:lpstr>Sicurezza degli smart contract e mitigazione delle vulnerabilità</vt:lpstr>
      <vt:lpstr>Requisiti di sicurezza e gestione degli errori</vt:lpstr>
      <vt:lpstr>Misuse diagrams</vt:lpstr>
      <vt:lpstr>Misuse Case: Minacce all’integrità e all’autenticità delle transazioni</vt:lpstr>
      <vt:lpstr>Misuse Case: Violazione dell’immutabilità e della coerenza dei dati</vt:lpstr>
      <vt:lpstr>Misuse Case: Attacchi all’architettura applicativa</vt:lpstr>
      <vt:lpstr>sommario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Francesco Pisaturo</dc:creator>
  <cp:lastModifiedBy>Francesco Pisaturo</cp:lastModifiedBy>
  <cp:revision>1</cp:revision>
  <dcterms:created xsi:type="dcterms:W3CDTF">2025-12-06T19:40:09Z</dcterms:created>
  <dcterms:modified xsi:type="dcterms:W3CDTF">2026-02-04T10:08:05Z</dcterms:modified>
</cp:coreProperties>
</file>